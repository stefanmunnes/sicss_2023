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Spectral"/>
      <p:regular r:id="rId30"/>
      <p:bold r:id="rId31"/>
      <p:italic r:id="rId32"/>
      <p:boldItalic r:id="rId33"/>
    </p:embeddedFont>
    <p:embeddedFont>
      <p:font typeface="Spectral Light"/>
      <p:regular r:id="rId34"/>
      <p:bold r:id="rId35"/>
      <p:italic r:id="rId36"/>
      <p:boldItalic r:id="rId37"/>
    </p:embeddedFont>
    <p:embeddedFont>
      <p:font typeface="Spectral Medium"/>
      <p:regular r:id="rId38"/>
      <p:bold r:id="rId39"/>
      <p:italic r:id="rId40"/>
      <p:boldItalic r:id="rId41"/>
    </p:embeddedFont>
    <p:embeddedFont>
      <p:font typeface="Spectral ExtraBold"/>
      <p:bold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BE9F14-4436-4E32-8989-9D97404505A8}">
  <a:tblStyle styleId="{6FBE9F14-4436-4E32-8989-9D97404505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F762242-7E0A-4894-9B8B-610A651483D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ectralMedium-italic.fntdata"/><Relationship Id="rId20" Type="http://schemas.openxmlformats.org/officeDocument/2006/relationships/slide" Target="slides/slide14.xml"/><Relationship Id="rId42" Type="http://schemas.openxmlformats.org/officeDocument/2006/relationships/font" Target="fonts/SpectralExtraBold-bold.fntdata"/><Relationship Id="rId41" Type="http://schemas.openxmlformats.org/officeDocument/2006/relationships/font" Target="fonts/SpectralMedium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SpectralExtraBold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ectral-bold.fntdata"/><Relationship Id="rId30" Type="http://schemas.openxmlformats.org/officeDocument/2006/relationships/font" Target="fonts/Spectral-regular.fntdata"/><Relationship Id="rId11" Type="http://schemas.openxmlformats.org/officeDocument/2006/relationships/slide" Target="slides/slide5.xml"/><Relationship Id="rId33" Type="http://schemas.openxmlformats.org/officeDocument/2006/relationships/font" Target="fonts/Spectral-boldItalic.fntdata"/><Relationship Id="rId10" Type="http://schemas.openxmlformats.org/officeDocument/2006/relationships/slide" Target="slides/slide4.xml"/><Relationship Id="rId32" Type="http://schemas.openxmlformats.org/officeDocument/2006/relationships/font" Target="fonts/Spectral-italic.fntdata"/><Relationship Id="rId13" Type="http://schemas.openxmlformats.org/officeDocument/2006/relationships/slide" Target="slides/slide7.xml"/><Relationship Id="rId35" Type="http://schemas.openxmlformats.org/officeDocument/2006/relationships/font" Target="fonts/SpectralLight-bold.fntdata"/><Relationship Id="rId12" Type="http://schemas.openxmlformats.org/officeDocument/2006/relationships/slide" Target="slides/slide6.xml"/><Relationship Id="rId34" Type="http://schemas.openxmlformats.org/officeDocument/2006/relationships/font" Target="fonts/SpectralLight-regular.fntdata"/><Relationship Id="rId15" Type="http://schemas.openxmlformats.org/officeDocument/2006/relationships/slide" Target="slides/slide9.xml"/><Relationship Id="rId37" Type="http://schemas.openxmlformats.org/officeDocument/2006/relationships/font" Target="fonts/Spectral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SpectralLight-italic.fntdata"/><Relationship Id="rId17" Type="http://schemas.openxmlformats.org/officeDocument/2006/relationships/slide" Target="slides/slide11.xml"/><Relationship Id="rId39" Type="http://schemas.openxmlformats.org/officeDocument/2006/relationships/font" Target="fonts/SpectralMedium-bold.fntdata"/><Relationship Id="rId16" Type="http://schemas.openxmlformats.org/officeDocument/2006/relationships/slide" Target="slides/slide10.xml"/><Relationship Id="rId38" Type="http://schemas.openxmlformats.org/officeDocument/2006/relationships/font" Target="fonts/Spectral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8cbf95875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8cbf9587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8cbf958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8cbf958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8cbf95875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58cbf95875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cbf9587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cbf9587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58cbf95875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58cbf95875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8cbf9587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58cbf9587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8cbf9587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8cbf9587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58cbf95875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58cbf95875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8cbf95875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58cbf95875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58f8660a9a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58f8660a9a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8f8660a9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8f8660a9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58f8660a9a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58f8660a9a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58f8660a9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58f8660a9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58f8660a9a_3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58f8660a9a_3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8f8660a9a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8f8660a9a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58f8660a9a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58f8660a9a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58f8660a9a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58f8660a9a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58f8660a9a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58f8660a9a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58f8660a9a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58f8660a9a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8f8660a9a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58f8660a9a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58f8660a9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58f8660a9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8f8660a9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8f8660a9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88850" y="-176300"/>
            <a:ext cx="355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AI Hype Discourse</a:t>
            </a:r>
            <a:endParaRPr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88850" y="1920825"/>
            <a:ext cx="3116100" cy="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Camille, Chaewon, Franziska</a:t>
            </a:r>
            <a:endParaRPr>
              <a:solidFill>
                <a:schemeClr val="lt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Our Goal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SLEEP 🛌🏻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SURVIVE </a:t>
            </a:r>
            <a:r>
              <a:rPr lang="en-GB">
                <a:latin typeface="Spectral"/>
                <a:ea typeface="Spectral"/>
                <a:cs typeface="Spectral"/>
                <a:sym typeface="Spectral"/>
              </a:rPr>
              <a:t>🍀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WAIT FOR CAKE 🍰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FANCY GRAPHS 📊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Overview of Data Sources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390125" y="111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{6FBE9F14-4436-4E32-8989-9D97404505A8}</a:tableStyleId>
              </a:tblPr>
              <a:tblGrid>
                <a:gridCol w="1714275"/>
                <a:gridCol w="1420625"/>
                <a:gridCol w="1982525"/>
                <a:gridCol w="1701575"/>
                <a:gridCol w="1701575"/>
              </a:tblGrid>
              <a:tr h="1308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 Medium"/>
                          <a:ea typeface="Spectral Medium"/>
                          <a:cs typeface="Spectral Medium"/>
                          <a:sym typeface="Spectral Medium"/>
                        </a:rPr>
                        <a:t>Source</a:t>
                      </a:r>
                      <a:endParaRPr>
                        <a:latin typeface="Spectral Medium"/>
                        <a:ea typeface="Spectral Medium"/>
                        <a:cs typeface="Spectral Medium"/>
                        <a:sym typeface="Spectral Medium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 Medium"/>
                          <a:ea typeface="Spectral Medium"/>
                          <a:cs typeface="Spectral Medium"/>
                          <a:sym typeface="Spectral Medium"/>
                        </a:rPr>
                        <a:t>(2022-07-01 - 2023-07-10)</a:t>
                      </a:r>
                      <a:endParaRPr>
                        <a:latin typeface="Spectral Medium"/>
                        <a:ea typeface="Spectral Medium"/>
                        <a:cs typeface="Spectral Medium"/>
                        <a:sym typeface="Spectral Medium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pectral Medium"/>
                        <a:ea typeface="Spectral Medium"/>
                        <a:cs typeface="Spectral Medium"/>
                        <a:sym typeface="Spectral Medium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Amount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Articles that mention </a:t>
                      </a:r>
                      <a:r>
                        <a:rPr lang="en-GB" sz="12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"#artificialintelligence|</a:t>
                      </a:r>
                      <a:endParaRPr sz="12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Artificial Intelligence|</a:t>
                      </a:r>
                      <a:endParaRPr sz="12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artificial intelligence|AI"</a:t>
                      </a:r>
                      <a:endParaRPr sz="12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 Medium"/>
                          <a:ea typeface="Spectral Medium"/>
                          <a:cs typeface="Spectral Medium"/>
                          <a:sym typeface="Spectral Medium"/>
                        </a:rPr>
                        <a:t>Word count</a:t>
                      </a: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 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(with / without stopwords)</a:t>
                      </a:r>
                      <a:endParaRPr sz="12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 Medium"/>
                          <a:ea typeface="Spectral Medium"/>
                          <a:cs typeface="Spectral Medium"/>
                          <a:sym typeface="Spectral Medium"/>
                        </a:rPr>
                        <a:t>Average words per document </a:t>
                      </a:r>
                      <a:endParaRPr>
                        <a:latin typeface="Spectral Medium"/>
                        <a:ea typeface="Spectral Medium"/>
                        <a:cs typeface="Spectral Medium"/>
                        <a:sym typeface="Spectral Medium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(with / without stopwords)</a:t>
                      </a:r>
                      <a:endParaRPr sz="12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 anchor="ctr"/>
                </a:tc>
              </a:tr>
              <a:tr h="470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Medium"/>
                          <a:ea typeface="Spectral Medium"/>
                          <a:cs typeface="Spectral Medium"/>
                          <a:sym typeface="Spectral Medium"/>
                        </a:rPr>
                        <a:t>Facebook</a:t>
                      </a:r>
                      <a:endParaRPr sz="1500">
                        <a:latin typeface="Spectral Medium"/>
                        <a:ea typeface="Spectral Medium"/>
                        <a:cs typeface="Spectral Medium"/>
                        <a:sym typeface="Spectral Medium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200296 posts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30586 posts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2803209 / 1777620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91.65 / 60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</a:tr>
              <a:tr h="470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Medium"/>
                          <a:ea typeface="Spectral Medium"/>
                          <a:cs typeface="Spectral Medium"/>
                          <a:sym typeface="Spectral Medium"/>
                        </a:rPr>
                        <a:t>FOX News</a:t>
                      </a:r>
                      <a:endParaRPr sz="1500">
                        <a:latin typeface="Spectral Medium"/>
                        <a:ea typeface="Spectral Medium"/>
                        <a:cs typeface="Spectral Medium"/>
                        <a:sym typeface="Spectral Medium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827 articles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519 articles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483151 / 280298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931/ 540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</a:tr>
              <a:tr h="470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Medium"/>
                          <a:ea typeface="Spectral Medium"/>
                          <a:cs typeface="Spectral Medium"/>
                          <a:sym typeface="Spectral Medium"/>
                        </a:rPr>
                        <a:t>The Guardian</a:t>
                      </a:r>
                      <a:endParaRPr sz="1500">
                        <a:latin typeface="Spectral Medium"/>
                        <a:ea typeface="Spectral Medium"/>
                        <a:cs typeface="Spectral Medium"/>
                        <a:sym typeface="Spectral Medium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600 articles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425 articles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354218 / 198754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834 / 474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</a:tr>
              <a:tr h="470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Medium"/>
                          <a:ea typeface="Spectral Medium"/>
                          <a:cs typeface="Spectral Medium"/>
                          <a:sym typeface="Spectral Medium"/>
                        </a:rPr>
                        <a:t>New York Times</a:t>
                      </a:r>
                      <a:endParaRPr sz="1500">
                        <a:latin typeface="Spectral Medium"/>
                        <a:ea typeface="Spectral Medium"/>
                        <a:cs typeface="Spectral Medium"/>
                        <a:sym typeface="Spectral Medium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704 articles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704 articles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1041505 / 606557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Spectral Light"/>
                          <a:ea typeface="Spectral Light"/>
                          <a:cs typeface="Spectral Light"/>
                          <a:sym typeface="Spectral Light"/>
                        </a:rPr>
                        <a:t>1479 / 862</a:t>
                      </a:r>
                      <a:endParaRPr sz="1500">
                        <a:latin typeface="Spectral Light"/>
                        <a:ea typeface="Spectral Light"/>
                        <a:cs typeface="Spectral Light"/>
                        <a:sym typeface="Spectral Light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Descriptive Statistics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354674" cy="25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447975"/>
            <a:ext cx="4354674" cy="26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4675" y="0"/>
            <a:ext cx="4789325" cy="27619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491025" y="2688375"/>
            <a:ext cx="600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 ExtraBold"/>
                <a:ea typeface="Spectral ExtraBold"/>
                <a:cs typeface="Spectral ExtraBold"/>
                <a:sym typeface="Spectral ExtraBold"/>
              </a:rPr>
              <a:t>FB</a:t>
            </a:r>
            <a:endParaRPr>
              <a:latin typeface="Spectral ExtraBold"/>
              <a:ea typeface="Spectral ExtraBold"/>
              <a:cs typeface="Spectral ExtraBold"/>
              <a:sym typeface="Spectral ExtraBold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801531" y="164675"/>
            <a:ext cx="1339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 ExtraBold"/>
                <a:ea typeface="Spectral ExtraBold"/>
                <a:cs typeface="Spectral ExtraBold"/>
                <a:sym typeface="Spectral ExtraBold"/>
              </a:rPr>
              <a:t>GUARDIAN</a:t>
            </a:r>
            <a:endParaRPr>
              <a:latin typeface="Spectral ExtraBold"/>
              <a:ea typeface="Spectral ExtraBold"/>
              <a:cs typeface="Spectral ExtraBold"/>
              <a:sym typeface="Spectral ExtraBo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491025" y="231150"/>
            <a:ext cx="600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 ExtraBold"/>
                <a:ea typeface="Spectral ExtraBold"/>
                <a:cs typeface="Spectral ExtraBold"/>
                <a:sym typeface="Spectral ExtraBold"/>
              </a:rPr>
              <a:t>FOX</a:t>
            </a:r>
            <a:endParaRPr>
              <a:latin typeface="Spectral ExtraBold"/>
              <a:ea typeface="Spectral ExtraBold"/>
              <a:cs typeface="Spectral ExtraBold"/>
              <a:sym typeface="Spectral ExtraBold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4675" y="2598350"/>
            <a:ext cx="4789326" cy="25451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1531" y="2688375"/>
            <a:ext cx="1339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 ExtraBold"/>
                <a:ea typeface="Spectral ExtraBold"/>
                <a:cs typeface="Spectral ExtraBold"/>
                <a:sym typeface="Spectral ExtraBold"/>
              </a:rPr>
              <a:t>NYT</a:t>
            </a:r>
            <a:endParaRPr>
              <a:latin typeface="Spectral ExtraBold"/>
              <a:ea typeface="Spectral ExtraBold"/>
              <a:cs typeface="Spectral ExtraBold"/>
              <a:sym typeface="Spectral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Results: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Sentiment (Polarity)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News Media vs. Social Media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25" y="1422950"/>
            <a:ext cx="3977876" cy="281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8" y="1422950"/>
            <a:ext cx="4177931" cy="28119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1455813" y="4403475"/>
            <a:ext cx="225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Spectral"/>
                <a:ea typeface="Spectral"/>
                <a:cs typeface="Spectral"/>
                <a:sym typeface="Spectral"/>
              </a:rPr>
              <a:t>NYT + Guardian + FOX</a:t>
            </a:r>
            <a:endParaRPr b="1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6093666" y="4403475"/>
            <a:ext cx="113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Spectral"/>
                <a:ea typeface="Spectral"/>
                <a:cs typeface="Spectral"/>
                <a:sym typeface="Spectral"/>
              </a:rPr>
              <a:t>Facebook</a:t>
            </a:r>
            <a:endParaRPr b="1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Different </a:t>
            </a:r>
            <a:r>
              <a:rPr lang="en-GB">
                <a:latin typeface="Spectral"/>
                <a:ea typeface="Spectral"/>
                <a:cs typeface="Spectral"/>
                <a:sym typeface="Spectral"/>
              </a:rPr>
              <a:t>Newspapers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5763" y="1732473"/>
            <a:ext cx="2477576" cy="17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662" y="1732475"/>
            <a:ext cx="2967265" cy="199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9663" y="1672238"/>
            <a:ext cx="3119299" cy="18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4266569" y="3836325"/>
            <a:ext cx="1339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 ExtraBold"/>
                <a:ea typeface="Spectral ExtraBold"/>
                <a:cs typeface="Spectral ExtraBold"/>
                <a:sym typeface="Spectral ExtraBold"/>
              </a:rPr>
              <a:t>GUARDIAN</a:t>
            </a:r>
            <a:endParaRPr>
              <a:latin typeface="Spectral ExtraBold"/>
              <a:ea typeface="Spectral ExtraBold"/>
              <a:cs typeface="Spectral ExtraBold"/>
              <a:sym typeface="Spectral ExtraBold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1473038" y="3836325"/>
            <a:ext cx="600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 ExtraBold"/>
                <a:ea typeface="Spectral ExtraBold"/>
                <a:cs typeface="Spectral ExtraBold"/>
                <a:sym typeface="Spectral ExtraBold"/>
              </a:rPr>
              <a:t>FOX</a:t>
            </a:r>
            <a:endParaRPr>
              <a:latin typeface="Spectral ExtraBold"/>
              <a:ea typeface="Spectral ExtraBold"/>
              <a:cs typeface="Spectral ExtraBold"/>
              <a:sym typeface="Spectral ExtraBold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7126381" y="3836325"/>
            <a:ext cx="1339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 ExtraBold"/>
                <a:ea typeface="Spectral ExtraBold"/>
                <a:cs typeface="Spectral ExtraBold"/>
                <a:sym typeface="Spectral ExtraBold"/>
              </a:rPr>
              <a:t>NYT</a:t>
            </a:r>
            <a:endParaRPr>
              <a:latin typeface="Spectral ExtraBold"/>
              <a:ea typeface="Spectral ExtraBold"/>
              <a:cs typeface="Spectral ExtraBold"/>
              <a:sym typeface="Spectral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Analysis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Topic Models &amp; Chi-squared feature detection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725" y="829275"/>
            <a:ext cx="5363273" cy="4314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5240049" cy="294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355400" y="3040675"/>
            <a:ext cx="1579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Spectral"/>
                <a:ea typeface="Spectral"/>
                <a:cs typeface="Spectral"/>
                <a:sym typeface="Spectral"/>
              </a:rPr>
              <a:t>Facebook</a:t>
            </a:r>
            <a:endParaRPr b="1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2600750" y="4456750"/>
            <a:ext cx="1579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Spectral"/>
                <a:ea typeface="Spectral"/>
                <a:cs typeface="Spectral"/>
                <a:sym typeface="Spectral"/>
              </a:rPr>
              <a:t>Fox</a:t>
            </a:r>
            <a:r>
              <a:rPr b="1" lang="en-GB"/>
              <a:t> </a:t>
            </a:r>
            <a:r>
              <a:rPr b="1" lang="en-GB">
                <a:latin typeface="Spectral"/>
                <a:ea typeface="Spectral"/>
                <a:cs typeface="Spectral"/>
                <a:sym typeface="Spectral"/>
              </a:rPr>
              <a:t>News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00" y="76200"/>
            <a:ext cx="5247301" cy="4991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/>
        </p:nvSpPr>
        <p:spPr>
          <a:xfrm>
            <a:off x="481150" y="349625"/>
            <a:ext cx="600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 ExtraBold"/>
                <a:ea typeface="Spectral ExtraBold"/>
                <a:cs typeface="Spectral ExtraBold"/>
                <a:sym typeface="Spectral ExtraBold"/>
              </a:rPr>
              <a:t>FB</a:t>
            </a:r>
            <a:endParaRPr>
              <a:latin typeface="Spectral ExtraBold"/>
              <a:ea typeface="Spectral ExtraBold"/>
              <a:cs typeface="Spectral ExtraBold"/>
              <a:sym typeface="Spectral ExtraBold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4300" y="152400"/>
            <a:ext cx="5247301" cy="499111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/>
        </p:nvSpPr>
        <p:spPr>
          <a:xfrm>
            <a:off x="4025325" y="349625"/>
            <a:ext cx="6003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 ExtraBold"/>
                <a:ea typeface="Spectral ExtraBold"/>
                <a:cs typeface="Spectral ExtraBold"/>
                <a:sym typeface="Spectral ExtraBold"/>
              </a:rPr>
              <a:t>FOX</a:t>
            </a:r>
            <a:endParaRPr>
              <a:latin typeface="Spectral ExtraBold"/>
              <a:ea typeface="Spectral ExtraBold"/>
              <a:cs typeface="Spectral ExtraBold"/>
              <a:sym typeface="Spectral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250" y="0"/>
            <a:ext cx="54074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/>
          <p:nvPr/>
        </p:nvSpPr>
        <p:spPr>
          <a:xfrm>
            <a:off x="3978550" y="2808050"/>
            <a:ext cx="325800" cy="163500"/>
          </a:xfrm>
          <a:prstGeom prst="rightArrow">
            <a:avLst>
              <a:gd fmla="val 10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3745925" y="3809475"/>
            <a:ext cx="325800" cy="163500"/>
          </a:xfrm>
          <a:prstGeom prst="rightArrow">
            <a:avLst>
              <a:gd fmla="val 10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/>
        </p:nvSpPr>
        <p:spPr>
          <a:xfrm>
            <a:off x="7059075" y="4636550"/>
            <a:ext cx="33222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Spectral"/>
                <a:ea typeface="Spectral"/>
                <a:cs typeface="Spectral"/>
                <a:sym typeface="Spectral"/>
              </a:rPr>
              <a:t>Sonia Giebel</a:t>
            </a:r>
            <a:endParaRPr b="1" sz="18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Research Questions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Spectral"/>
              <a:buChar char="●"/>
            </a:pPr>
            <a:r>
              <a:rPr lang="en-GB" sz="2000">
                <a:latin typeface="Spectral"/>
                <a:ea typeface="Spectral"/>
                <a:cs typeface="Spectral"/>
                <a:sym typeface="Spectral"/>
              </a:rPr>
              <a:t>What does diversity discourse look like in elite German universities?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Font typeface="Spectral"/>
              <a:buChar char="○"/>
            </a:pPr>
            <a:r>
              <a:rPr lang="en-GB" sz="1600">
                <a:latin typeface="Spectral"/>
                <a:ea typeface="Spectral"/>
                <a:cs typeface="Spectral"/>
                <a:sym typeface="Spectral"/>
              </a:rPr>
              <a:t>“Excellence initiative” universities: 10 universities + Berlin </a:t>
            </a:r>
            <a:r>
              <a:rPr lang="en-GB" sz="1600">
                <a:latin typeface="Spectral"/>
                <a:ea typeface="Spectral"/>
                <a:cs typeface="Spectral"/>
                <a:sym typeface="Spectral"/>
              </a:rPr>
              <a:t>university</a:t>
            </a:r>
            <a:r>
              <a:rPr lang="en-GB" sz="1600">
                <a:latin typeface="Spectral"/>
                <a:ea typeface="Spectral"/>
                <a:cs typeface="Spectral"/>
                <a:sym typeface="Spectral"/>
              </a:rPr>
              <a:t> consortium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Font typeface="Spectral"/>
              <a:buChar char="○"/>
            </a:pPr>
            <a:r>
              <a:rPr lang="en-GB" sz="1600">
                <a:latin typeface="Spectral"/>
                <a:ea typeface="Spectral"/>
                <a:cs typeface="Spectral"/>
                <a:sym typeface="Spectral"/>
              </a:rPr>
              <a:t>Investment to make German universities more competitive in the global higher education market (i.e. increase their rankings)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Spectral"/>
              <a:buChar char="●"/>
            </a:pPr>
            <a:r>
              <a:rPr lang="en-GB" sz="2000">
                <a:latin typeface="Spectral"/>
                <a:ea typeface="Spectral"/>
                <a:cs typeface="Spectral"/>
                <a:sym typeface="Spectral"/>
              </a:rPr>
              <a:t>How does German diversity discourse compare to diversity discourse in the United Kingdom?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SzPts val="1600"/>
              <a:buFont typeface="Spectral"/>
              <a:buChar char="○"/>
            </a:pPr>
            <a:r>
              <a:rPr lang="en-GB" sz="1600">
                <a:latin typeface="Spectral"/>
                <a:ea typeface="Spectral"/>
                <a:cs typeface="Spectral"/>
                <a:sym typeface="Spectral"/>
              </a:rPr>
              <a:t>Organizational theorists would predict that German universities would look to more highly ranked counterparts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Data &amp; Methods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●"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Manually collected urls of websites mentioning </a:t>
            </a:r>
            <a:r>
              <a:rPr lang="en-GB">
                <a:latin typeface="Spectral"/>
                <a:ea typeface="Spectral"/>
                <a:cs typeface="Spectral"/>
                <a:sym typeface="Spectral"/>
              </a:rPr>
              <a:t>diversity</a:t>
            </a:r>
            <a:r>
              <a:rPr lang="en-GB">
                <a:latin typeface="Spectral"/>
                <a:ea typeface="Spectral"/>
                <a:cs typeface="Spectral"/>
                <a:sym typeface="Spectral"/>
              </a:rPr>
              <a:t> or equality from the German excellence universities and analogous websites for Cambridge, Oxford, and London School of Economics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●"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Web scraped text from these URLs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Spectral"/>
              <a:buChar char="●"/>
            </a:pPr>
            <a:r>
              <a:rPr lang="en-GB" sz="2000">
                <a:latin typeface="Spectral"/>
                <a:ea typeface="Spectral"/>
                <a:cs typeface="Spectral"/>
                <a:sym typeface="Spectral"/>
              </a:rPr>
              <a:t>Bag of words approach</a:t>
            </a:r>
            <a:endParaRPr sz="2000">
              <a:latin typeface="Spectral"/>
              <a:ea typeface="Spectral"/>
              <a:cs typeface="Spectral"/>
              <a:sym typeface="Spectr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pectral"/>
              <a:buChar char="○"/>
            </a:pPr>
            <a:r>
              <a:rPr lang="en-GB" sz="1600">
                <a:latin typeface="Spectral"/>
                <a:ea typeface="Spectral"/>
                <a:cs typeface="Spectral"/>
                <a:sym typeface="Spectral"/>
              </a:rPr>
              <a:t>Compare most frequently used terms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pectral"/>
              <a:buChar char="○"/>
            </a:pPr>
            <a:r>
              <a:rPr lang="en-GB" sz="1600">
                <a:latin typeface="Spectral"/>
                <a:ea typeface="Spectral"/>
                <a:cs typeface="Spectral"/>
                <a:sym typeface="Spectral"/>
              </a:rPr>
              <a:t>Most key terms for each data set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Spectral"/>
              <a:buChar char="○"/>
            </a:pPr>
            <a:r>
              <a:rPr lang="en-GB" sz="1600">
                <a:latin typeface="Spectral"/>
                <a:ea typeface="Spectral"/>
                <a:cs typeface="Spectral"/>
                <a:sym typeface="Spectral"/>
              </a:rPr>
              <a:t>Created feature co-occurrence matrices (FCM) for both to visualize structure of diversity discourse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" name="Google Shape;159;p28"/>
          <p:cNvGraphicFramePr/>
          <p:nvPr/>
        </p:nvGraphicFramePr>
        <p:xfrm>
          <a:off x="1575700" y="-264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{2F762242-7E0A-4894-9B8B-610A651483DD}</a:tableStyleId>
              </a:tblPr>
              <a:tblGrid>
                <a:gridCol w="1566325"/>
                <a:gridCol w="897775"/>
                <a:gridCol w="2262325"/>
                <a:gridCol w="839450"/>
              </a:tblGrid>
              <a:tr h="4264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Comparing Frequent Words</a:t>
                      </a:r>
                      <a:endParaRPr sz="16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3755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UK</a:t>
                      </a:r>
                      <a:endParaRPr b="1" sz="13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Germany</a:t>
                      </a:r>
                      <a:endParaRPr b="1" sz="13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7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3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Token</a:t>
                      </a:r>
                      <a:endParaRPr i="1" sz="13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3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Rank</a:t>
                      </a:r>
                      <a:endParaRPr i="1" sz="13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3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Token</a:t>
                      </a:r>
                      <a:endParaRPr i="1" sz="13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3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Rank</a:t>
                      </a:r>
                      <a:endParaRPr i="1" sz="13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equal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univers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univers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divers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diverse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3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equal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3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staff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4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research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4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race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5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opportun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5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fund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6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gender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…10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harass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…10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devel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11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gender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…12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gender_equal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…15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charter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13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famil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…20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award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14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women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…25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6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inclus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15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science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26</a:t>
                      </a:r>
                      <a:endParaRPr sz="1200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9"/>
          <p:cNvPicPr preferRelativeResize="0"/>
          <p:nvPr/>
        </p:nvPicPr>
        <p:blipFill rotWithShape="1">
          <a:blip r:embed="rId3">
            <a:alphaModFix/>
          </a:blip>
          <a:srcRect b="6507" l="0" r="0" t="0"/>
          <a:stretch/>
        </p:blipFill>
        <p:spPr>
          <a:xfrm>
            <a:off x="1339150" y="76200"/>
            <a:ext cx="6587925" cy="43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9"/>
          <p:cNvSpPr/>
          <p:nvPr/>
        </p:nvSpPr>
        <p:spPr>
          <a:xfrm>
            <a:off x="1510425" y="4016700"/>
            <a:ext cx="553800" cy="17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64D79"/>
          </a:soli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9"/>
          <p:cNvSpPr/>
          <p:nvPr/>
        </p:nvSpPr>
        <p:spPr>
          <a:xfrm>
            <a:off x="6425300" y="694525"/>
            <a:ext cx="553800" cy="174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/>
          <p:nvPr/>
        </p:nvSpPr>
        <p:spPr>
          <a:xfrm>
            <a:off x="6044300" y="443425"/>
            <a:ext cx="553800" cy="174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9"/>
          <p:cNvSpPr/>
          <p:nvPr/>
        </p:nvSpPr>
        <p:spPr>
          <a:xfrm>
            <a:off x="2682775" y="3021400"/>
            <a:ext cx="553800" cy="17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5A6BD"/>
          </a:solidFill>
          <a:ln cap="flat" cmpd="sng" w="9525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/>
          <p:nvPr/>
        </p:nvSpPr>
        <p:spPr>
          <a:xfrm>
            <a:off x="2799000" y="2644600"/>
            <a:ext cx="553800" cy="174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5A6BD"/>
          </a:solidFill>
          <a:ln cap="flat" cmpd="sng" w="9525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44591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Comparing key terms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7108750" y="1933318"/>
            <a:ext cx="1573800" cy="60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Germany</a:t>
            </a:r>
            <a:endParaRPr b="1" sz="1100"/>
          </a:p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UK</a:t>
            </a:r>
            <a:endParaRPr b="1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United Kingdom FCM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7750" y="0"/>
            <a:ext cx="6176626" cy="43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Germany FCM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850" y="-47625"/>
            <a:ext cx="5921250" cy="421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Where are the Women?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graphicFrame>
        <p:nvGraphicFramePr>
          <p:cNvPr id="189" name="Google Shape;189;p32"/>
          <p:cNvGraphicFramePr/>
          <p:nvPr/>
        </p:nvGraphicFramePr>
        <p:xfrm>
          <a:off x="2162200" y="91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{2F762242-7E0A-4894-9B8B-610A651483DD}</a:tableStyleId>
              </a:tblPr>
              <a:tblGrid>
                <a:gridCol w="1431025"/>
                <a:gridCol w="3029800"/>
              </a:tblGrid>
              <a:tr h="42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Token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Co-occurrences with “women”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5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equal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9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5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proport</a:t>
                      </a:r>
                      <a:endParaRPr b="1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5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5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opportun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5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level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5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group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5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increase</a:t>
                      </a:r>
                      <a:endParaRPr b="1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5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various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5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represent</a:t>
                      </a:r>
                      <a:endParaRPr b="1"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  <a:tr h="351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data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</a:t>
                      </a:r>
                      <a:endParaRPr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Next Steps 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Spectral"/>
              <a:buChar char="●"/>
            </a:pPr>
            <a:r>
              <a:rPr lang="en-GB" sz="2200">
                <a:latin typeface="Spectral"/>
                <a:ea typeface="Spectral"/>
                <a:cs typeface="Spectral"/>
                <a:sym typeface="Spectral"/>
              </a:rPr>
              <a:t>Expand the data set </a:t>
            </a:r>
            <a:endParaRPr sz="2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GB" sz="1800">
                <a:latin typeface="Spectral"/>
                <a:ea typeface="Spectral"/>
                <a:cs typeface="Spectral"/>
                <a:sym typeface="Spectral"/>
              </a:rPr>
              <a:t>Include more universities from each country → how does intra-country diversity discourse differ by institutional ranking?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GB" sz="1800">
                <a:latin typeface="Spectral"/>
                <a:ea typeface="Spectral"/>
                <a:cs typeface="Spectral"/>
                <a:sym typeface="Spectral"/>
              </a:rPr>
              <a:t>PDFs of reports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Spectral"/>
              <a:buChar char="●"/>
            </a:pPr>
            <a:r>
              <a:rPr lang="en-GB" sz="2200">
                <a:latin typeface="Spectral"/>
                <a:ea typeface="Spectral"/>
                <a:cs typeface="Spectral"/>
                <a:sym typeface="Spectral"/>
              </a:rPr>
              <a:t>Try an iterative automated and manual approach to scraping and analysis</a:t>
            </a:r>
            <a:endParaRPr sz="22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GB" sz="1800">
                <a:latin typeface="Spectral"/>
                <a:ea typeface="Spectral"/>
                <a:cs typeface="Spectral"/>
                <a:sym typeface="Spectral"/>
              </a:rPr>
              <a:t>Use HTML code to expand corpus of URLs to scrape</a:t>
            </a:r>
            <a:endParaRPr sz="1800">
              <a:latin typeface="Spectral"/>
              <a:ea typeface="Spectral"/>
              <a:cs typeface="Spectral"/>
              <a:sym typeface="Spectr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○"/>
            </a:pPr>
            <a:r>
              <a:rPr lang="en-GB" sz="1800">
                <a:latin typeface="Spectral"/>
                <a:ea typeface="Spectral"/>
                <a:cs typeface="Spectral"/>
                <a:sym typeface="Spectral"/>
              </a:rPr>
              <a:t>Complement existing computational analyses with qualitative hand-coding</a:t>
            </a:r>
            <a:endParaRPr sz="22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Challenges</a:t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201" name="Google Shape;201;p34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●"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Webscraping: diverging search results (e.g., irrelevant articles), long waiting time, sensitivity of keywords, RSelenium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●"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Text preprocessing: balance between reducing text but still capturing all text of interest, </a:t>
            </a:r>
            <a:r>
              <a:rPr lang="en-GB">
                <a:latin typeface="Spectral"/>
                <a:ea typeface="Spectral"/>
                <a:cs typeface="Spectral"/>
                <a:sym typeface="Spectral"/>
              </a:rPr>
              <a:t>consistency across sources, time consuming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ectral"/>
              <a:buChar char="●"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Topic modeling: interpretation of topics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pectral"/>
              <a:buChar char="●"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Relied on English translations of German websites → use other language settings/translate data</a:t>
            </a:r>
            <a:endParaRPr sz="16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idx="4294967295"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Spectral"/>
                <a:ea typeface="Spectral"/>
                <a:cs typeface="Spectral"/>
                <a:sym typeface="Spectral"/>
              </a:rPr>
              <a:t>Thank you for your attention!</a:t>
            </a:r>
            <a:endParaRPr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77">
                <a:latin typeface="Spectral"/>
                <a:ea typeface="Spectral"/>
                <a:cs typeface="Spectral"/>
                <a:sym typeface="Spectral"/>
              </a:rPr>
              <a:t>(Most) code is on GitHub</a:t>
            </a:r>
            <a:endParaRPr sz="2577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