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4"/>
  </p:normalViewPr>
  <p:slideViewPr>
    <p:cSldViewPr snapToGrid="0">
      <p:cViewPr varScale="1">
        <p:scale>
          <a:sx n="131" d="100"/>
          <a:sy n="131" d="100"/>
        </p:scale>
        <p:origin x="9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8fc78b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8fc78b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8fc78b36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8fc78b36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8fc78b36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8fc78b36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8fc78b365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8fc78b365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8fc78b365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58fc78b365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8fc78b365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8fc78b365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8fc78b365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8fc78b365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8fc78b365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58fc78b365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8fc78b36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8fc78b36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8fc78b365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8fc78b365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8fc78b365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58fc78b365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8fc78b36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8fc78b36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8fc78b36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58fc78b36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8fc78b36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8fc78b36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8fc78b36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58fc78b36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8fc78b365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58fc78b365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8fc78b365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58fc78b365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58fc78b365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58fc78b365_1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58fc78b365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58fc78b365_1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8fc78b365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58fc78b365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58fc78b365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58fc78b365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58fc78b365_1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58fc78b365_1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58fc78b365_1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58fc78b365_1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58fc78b365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58fc78b365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7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Times New Roman"/>
                <a:ea typeface="Times New Roman"/>
                <a:cs typeface="Times New Roman"/>
                <a:sym typeface="Times New Roman"/>
              </a:rPr>
              <a:t>Appeals to class politics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9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Fred und Davide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SICCS 2023, Berlin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13th July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0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it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in class voting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it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competition for working class vote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latin typeface="Times New Roman"/>
                <a:ea typeface="Times New Roman"/>
                <a:cs typeface="Times New Roman"/>
                <a:sym typeface="Times New Roman"/>
              </a:rPr>
              <a:t>Research Questions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30366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does politicians’ rhetoric appeal to “class politics”? How does it change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.1 over time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.2 by ideological position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.3 in different contexts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latin typeface="Times New Roman"/>
                <a:ea typeface="Times New Roman"/>
                <a:cs typeface="Times New Roman"/>
                <a:sym typeface="Times New Roman"/>
              </a:rPr>
              <a:t>Case selection </a:t>
            </a:r>
            <a:endParaRPr b="1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Presidential Debates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1960-2020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&amp; General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Democratic and Republican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options not chosen: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</a:t>
            </a: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websites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Congress</a:t>
            </a: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member websites (press releases, newsletters)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website with presidential debates: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739600" y="4297675"/>
            <a:ext cx="62373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few cases</a:t>
            </a:r>
            <a:b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more standardized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195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latin typeface="Times New Roman"/>
                <a:ea typeface="Times New Roman"/>
                <a:cs typeface="Times New Roman"/>
                <a:sym typeface="Times New Roman"/>
              </a:rPr>
              <a:t>Web scraping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42476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025"/>
            <a:ext cx="7415327" cy="496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425" y="727025"/>
            <a:ext cx="6285350" cy="368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425" y="727025"/>
            <a:ext cx="6285350" cy="368944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/>
        </p:nvSpPr>
        <p:spPr>
          <a:xfrm>
            <a:off x="139200" y="627275"/>
            <a:ext cx="1122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Williams</a:t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155850" y="1981575"/>
            <a:ext cx="1122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NA</a:t>
            </a:r>
            <a:endParaRPr/>
          </a:p>
        </p:txBody>
      </p:sp>
      <p:sp>
        <p:nvSpPr>
          <p:cNvPr id="94" name="Google Shape;94;p19"/>
          <p:cNvSpPr txBox="1"/>
          <p:nvPr/>
        </p:nvSpPr>
        <p:spPr>
          <a:xfrm>
            <a:off x="146850" y="239000"/>
            <a:ext cx="125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/>
              <a:t>SPEAKER</a:t>
            </a:r>
            <a:endParaRPr u="sng"/>
          </a:p>
        </p:txBody>
      </p:sp>
      <p:sp>
        <p:nvSpPr>
          <p:cNvPr id="95" name="Google Shape;95;p19"/>
          <p:cNvSpPr txBox="1"/>
          <p:nvPr/>
        </p:nvSpPr>
        <p:spPr>
          <a:xfrm>
            <a:off x="2621425" y="246625"/>
            <a:ext cx="125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/>
              <a:t>TEXT</a:t>
            </a:r>
            <a:endParaRPr u="sng"/>
          </a:p>
        </p:txBody>
      </p:sp>
      <p:sp>
        <p:nvSpPr>
          <p:cNvPr id="96" name="Google Shape;96;p19"/>
          <p:cNvSpPr txBox="1"/>
          <p:nvPr/>
        </p:nvSpPr>
        <p:spPr>
          <a:xfrm>
            <a:off x="155850" y="2362575"/>
            <a:ext cx="1122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Romney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155850" y="3576225"/>
            <a:ext cx="1122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425" y="727025"/>
            <a:ext cx="6285350" cy="36894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139200" y="627275"/>
            <a:ext cx="1122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Williams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155850" y="1981575"/>
            <a:ext cx="1122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Williams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146850" y="239000"/>
            <a:ext cx="125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/>
              <a:t>SPEAKER</a:t>
            </a:r>
            <a:endParaRPr u="sng"/>
          </a:p>
        </p:txBody>
      </p:sp>
      <p:sp>
        <p:nvSpPr>
          <p:cNvPr id="106" name="Google Shape;106;p20"/>
          <p:cNvSpPr txBox="1"/>
          <p:nvPr/>
        </p:nvSpPr>
        <p:spPr>
          <a:xfrm>
            <a:off x="2621425" y="246625"/>
            <a:ext cx="125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/>
              <a:t>TEXT</a:t>
            </a:r>
            <a:endParaRPr u="sng"/>
          </a:p>
        </p:txBody>
      </p:sp>
      <p:sp>
        <p:nvSpPr>
          <p:cNvPr id="107" name="Google Shape;107;p20"/>
          <p:cNvSpPr txBox="1"/>
          <p:nvPr/>
        </p:nvSpPr>
        <p:spPr>
          <a:xfrm>
            <a:off x="155850" y="2362575"/>
            <a:ext cx="1122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Romney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155850" y="3576225"/>
            <a:ext cx="1122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Romney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 r="49466"/>
          <a:stretch/>
        </p:blipFill>
        <p:spPr>
          <a:xfrm>
            <a:off x="2016525" y="1709350"/>
            <a:ext cx="3606624" cy="3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6197150" y="1678175"/>
            <a:ext cx="23316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&lt;strong&gt;, &lt;b&gt;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 rotWithShape="1">
          <a:blip r:embed="rId3">
            <a:alphaModFix/>
          </a:blip>
          <a:srcRect r="49466"/>
          <a:stretch/>
        </p:blipFill>
        <p:spPr>
          <a:xfrm>
            <a:off x="2016525" y="1293400"/>
            <a:ext cx="3606624" cy="3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6197150" y="1262225"/>
            <a:ext cx="23316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“:”</a:t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839600" y="1723988"/>
            <a:ext cx="845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BOLD</a:t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839600" y="1308038"/>
            <a:ext cx="845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COLON</a:t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6197150" y="2059175"/>
            <a:ext cx="23316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&lt;em&gt;, &lt;i&gt;</a:t>
            </a:r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839600" y="2104988"/>
            <a:ext cx="845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ITALICS</a:t>
            </a: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6197150" y="2440175"/>
            <a:ext cx="23316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[A-Z]</a:t>
            </a:r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839600" y="2486000"/>
            <a:ext cx="9123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CAPITAL</a:t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6197150" y="2821175"/>
            <a:ext cx="23316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“.”</a:t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839600" y="2867000"/>
            <a:ext cx="943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PERIOD</a:t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6197150" y="3202175"/>
            <a:ext cx="23316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 rotWithShape="1">
          <a:blip r:embed="rId4">
            <a:alphaModFix/>
          </a:blip>
          <a:srcRect r="29027"/>
          <a:stretch/>
        </p:blipFill>
        <p:spPr>
          <a:xfrm>
            <a:off x="2090938" y="2125288"/>
            <a:ext cx="3532225" cy="3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 rotWithShape="1">
          <a:blip r:embed="rId5">
            <a:alphaModFix/>
          </a:blip>
          <a:srcRect r="1555"/>
          <a:stretch/>
        </p:blipFill>
        <p:spPr>
          <a:xfrm>
            <a:off x="2094288" y="2927900"/>
            <a:ext cx="3791663" cy="3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16525" y="2473275"/>
            <a:ext cx="3532200" cy="3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48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number of debates: 166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Democratic Primary: 53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elections: 99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Republican Primary: 64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0275" y="1017713"/>
            <a:ext cx="5268577" cy="376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body" idx="1"/>
          </p:nvPr>
        </p:nvSpPr>
        <p:spPr>
          <a:xfrm>
            <a:off x="300875" y="530475"/>
            <a:ext cx="2362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speeches by year of election and type of election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dirty="0"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800" y="530475"/>
            <a:ext cx="5966423" cy="426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>
            <a:spLocks noGrp="1"/>
          </p:cNvSpPr>
          <p:nvPr>
            <p:ph type="title"/>
          </p:nvPr>
        </p:nvSpPr>
        <p:spPr>
          <a:xfrm>
            <a:off x="268375" y="530600"/>
            <a:ext cx="2189700" cy="32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000" dirty="0">
                <a:latin typeface="Times New Roman"/>
                <a:ea typeface="Times New Roman"/>
                <a:cs typeface="Times New Roman"/>
                <a:sym typeface="Times New Roman"/>
              </a:rPr>
              <a:t>Number of words by year of election and type of election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9775" y="373475"/>
            <a:ext cx="6482524" cy="463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>
            <a:spLocks noGrp="1"/>
          </p:cNvSpPr>
          <p:nvPr>
            <p:ph type="title"/>
          </p:nvPr>
        </p:nvSpPr>
        <p:spPr>
          <a:xfrm>
            <a:off x="311700" y="129950"/>
            <a:ext cx="8520600" cy="8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latin typeface="Times New Roman"/>
                <a:ea typeface="Times New Roman"/>
                <a:cs typeface="Times New Roman"/>
                <a:sym typeface="Times New Roman"/>
              </a:rPr>
              <a:t>Analysis 1: The dictionary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>
            <a:spLocks noGrp="1"/>
          </p:cNvSpPr>
          <p:nvPr>
            <p:ph type="body" idx="1"/>
          </p:nvPr>
        </p:nvSpPr>
        <p:spPr>
          <a:xfrm>
            <a:off x="311700" y="758000"/>
            <a:ext cx="8520600" cy="4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workers</a:t>
            </a:r>
            <a: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 c(“worker”)</a:t>
            </a:r>
            <a:b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working_people</a:t>
            </a:r>
            <a: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c(“Working people”,	“Working families”,	“Working Americans”, “working American”,	“working poor”,	“blue collar”,	“blue-collar”,	“wage-earners”)</a:t>
            </a:r>
            <a:b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working_class</a:t>
            </a:r>
            <a: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c(“working class”,	“Working-class”)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Aggregated in a generic </a:t>
            </a:r>
            <a:r>
              <a:rPr lang="it" sz="1200" b="1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working-class related dictionary</a:t>
            </a:r>
            <a:endParaRPr sz="1200" b="1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political_elites</a:t>
            </a:r>
            <a: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c(“political elite” , “power elite”, “career politician” , “career-politician” , “washington insider” , “political insider” , “professional politician”)</a:t>
            </a:r>
            <a:b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economic_elites</a:t>
            </a:r>
            <a: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c(“upper class”, “the rich “, “the wealthy”, “upper-class” , “wealthy interests” , “ultra wealthy” , “ultra-wealthy” ,“super rich” , “super-rich” , “mega-rich”,“wealthy few”, “privileged few” , “priveleged class” , “economic elite”  , “People at the top” , “those at the top”, “millionaire”, “billionaire”, “top 1%” , “top 0.1 percent” , “top 1 percent” , “top one percent” , “the 1%” , “the 0.1 percent” , “the 1 percent” , “the one percent” , “richest 1%” , “richest 0.1 percent” , “richest 1 percent” , “richest one percent” , “wealthiest 1%” , “wealthiest 0.1 percent” , “wealthiest 1 percent” , “wealthiest one percent”)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Aggregated in a generic </a:t>
            </a:r>
            <a:r>
              <a:rPr lang="it" sz="1200" b="1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anti-elite related dictionary</a:t>
            </a:r>
            <a:endParaRPr sz="1200" b="1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b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" sz="1200" b="1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! </a:t>
            </a:r>
            <a:r>
              <a:rPr lang="it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 weight</a:t>
            </a:r>
            <a:r>
              <a:rPr lang="it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count of the dictionary words used / count of the total words used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title"/>
          </p:nvPr>
        </p:nvSpPr>
        <p:spPr>
          <a:xfrm>
            <a:off x="311700" y="228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i="1">
                <a:latin typeface="Times New Roman"/>
                <a:ea typeface="Times New Roman"/>
                <a:cs typeface="Times New Roman"/>
                <a:sym typeface="Times New Roman"/>
              </a:rPr>
              <a:t>Working-class related dictionary</a:t>
            </a:r>
            <a:endParaRPr b="1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4572001" cy="3266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70125"/>
            <a:ext cx="4572001" cy="3266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311700" y="195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i="1">
                <a:latin typeface="Times New Roman"/>
                <a:ea typeface="Times New Roman"/>
                <a:cs typeface="Times New Roman"/>
                <a:sym typeface="Times New Roman"/>
              </a:rPr>
              <a:t>Anti-elite related dictionary</a:t>
            </a:r>
            <a:endParaRPr b="1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4547476" cy="3248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52475"/>
            <a:ext cx="4547476" cy="324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latin typeface="Times New Roman"/>
                <a:ea typeface="Times New Roman"/>
                <a:cs typeface="Times New Roman"/>
                <a:sym typeface="Times New Roman"/>
              </a:rPr>
              <a:t>Analysis 2: Words Embedding≈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it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with dictionary: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lang="it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Biased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lang="it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Non-comprehensive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it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lphaLcPeriod"/>
            </a:pPr>
            <a:r>
              <a:rPr lang="it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word embedding to “discover” relevant dictionary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1"/>
          </p:nvPr>
        </p:nvSpPr>
        <p:spPr>
          <a:xfrm>
            <a:off x="311700" y="463425"/>
            <a:ext cx="8520600" cy="41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Q1: What are the co-contextual words for “working class” and “anti-elite” concepts?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 corpus into Dem and Rep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word embeddings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vectors to create concepts: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150" y="2639150"/>
            <a:ext cx="5375349" cy="31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6150" y="3872400"/>
            <a:ext cx="5375351" cy="330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6150" y="2989125"/>
            <a:ext cx="7377601" cy="27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6150" y="4260675"/>
            <a:ext cx="7237034" cy="27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9"/>
          <p:cNvSpPr txBox="1"/>
          <p:nvPr/>
        </p:nvSpPr>
        <p:spPr>
          <a:xfrm>
            <a:off x="1079950" y="2202875"/>
            <a:ext cx="15960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Working + Class</a:t>
            </a:r>
            <a:endParaRPr/>
          </a:p>
        </p:txBody>
      </p:sp>
      <p:sp>
        <p:nvSpPr>
          <p:cNvPr id="186" name="Google Shape;186;p29"/>
          <p:cNvSpPr txBox="1"/>
          <p:nvPr/>
        </p:nvSpPr>
        <p:spPr>
          <a:xfrm>
            <a:off x="1102825" y="3525725"/>
            <a:ext cx="15960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Wealthy + Elite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250" y="590175"/>
            <a:ext cx="5942967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 txBox="1"/>
          <p:nvPr/>
        </p:nvSpPr>
        <p:spPr>
          <a:xfrm>
            <a:off x="2122525" y="220300"/>
            <a:ext cx="2013900" cy="349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ALL CORPUS</a:t>
            </a:r>
            <a:endParaRPr/>
          </a:p>
        </p:txBody>
      </p:sp>
      <p:sp>
        <p:nvSpPr>
          <p:cNvPr id="193" name="Google Shape;193;p30"/>
          <p:cNvSpPr txBox="1"/>
          <p:nvPr/>
        </p:nvSpPr>
        <p:spPr>
          <a:xfrm>
            <a:off x="4060225" y="220300"/>
            <a:ext cx="2013900" cy="349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DEM CORPUS</a:t>
            </a:r>
            <a:endParaRPr/>
          </a:p>
        </p:txBody>
      </p:sp>
      <p:sp>
        <p:nvSpPr>
          <p:cNvPr id="194" name="Google Shape;194;p30"/>
          <p:cNvSpPr txBox="1"/>
          <p:nvPr/>
        </p:nvSpPr>
        <p:spPr>
          <a:xfrm>
            <a:off x="6074125" y="220300"/>
            <a:ext cx="2013900" cy="3492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REP CORPUS</a:t>
            </a:r>
            <a:endParaRPr/>
          </a:p>
        </p:txBody>
      </p:sp>
      <p:sp>
        <p:nvSpPr>
          <p:cNvPr id="195" name="Google Shape;195;p30"/>
          <p:cNvSpPr txBox="1"/>
          <p:nvPr/>
        </p:nvSpPr>
        <p:spPr>
          <a:xfrm>
            <a:off x="130925" y="220300"/>
            <a:ext cx="16398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Times New Roman"/>
                <a:ea typeface="Times New Roman"/>
                <a:cs typeface="Times New Roman"/>
                <a:sym typeface="Times New Roman"/>
              </a:rPr>
              <a:t>Working + Class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/>
        </p:nvSpPr>
        <p:spPr>
          <a:xfrm>
            <a:off x="2122525" y="220300"/>
            <a:ext cx="2013900" cy="349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ALL CORPUS</a:t>
            </a:r>
            <a:endParaRPr/>
          </a:p>
        </p:txBody>
      </p:sp>
      <p:sp>
        <p:nvSpPr>
          <p:cNvPr id="201" name="Google Shape;201;p31"/>
          <p:cNvSpPr txBox="1"/>
          <p:nvPr/>
        </p:nvSpPr>
        <p:spPr>
          <a:xfrm>
            <a:off x="4060225" y="220300"/>
            <a:ext cx="2013900" cy="349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DEM CORPUS</a:t>
            </a:r>
            <a:endParaRPr/>
          </a:p>
        </p:txBody>
      </p:sp>
      <p:sp>
        <p:nvSpPr>
          <p:cNvPr id="202" name="Google Shape;202;p31"/>
          <p:cNvSpPr txBox="1"/>
          <p:nvPr/>
        </p:nvSpPr>
        <p:spPr>
          <a:xfrm>
            <a:off x="6074125" y="220300"/>
            <a:ext cx="2013900" cy="3492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REP CORPUS</a:t>
            </a:r>
            <a:endParaRPr/>
          </a:p>
        </p:txBody>
      </p:sp>
      <p:sp>
        <p:nvSpPr>
          <p:cNvPr id="203" name="Google Shape;203;p31"/>
          <p:cNvSpPr txBox="1"/>
          <p:nvPr/>
        </p:nvSpPr>
        <p:spPr>
          <a:xfrm>
            <a:off x="130925" y="220300"/>
            <a:ext cx="16398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Times New Roman"/>
                <a:ea typeface="Times New Roman"/>
                <a:cs typeface="Times New Roman"/>
                <a:sym typeface="Times New Roman"/>
              </a:rPr>
              <a:t>Wealthy + Elite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525" y="569498"/>
            <a:ext cx="5965501" cy="6688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>
            <a:spLocks noGrp="1"/>
          </p:cNvSpPr>
          <p:nvPr>
            <p:ph type="body" idx="1"/>
          </p:nvPr>
        </p:nvSpPr>
        <p:spPr>
          <a:xfrm>
            <a:off x="311700" y="463425"/>
            <a:ext cx="8520600" cy="41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Q2: Which “texts” are most closely related to the two concepts? (working class, anti-elite)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Score = weighted frequency of “similar words”.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option: use pre-trained word embeddings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it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Didn’t Work.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351" y="0"/>
            <a:ext cx="52512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3"/>
          <p:cNvSpPr txBox="1"/>
          <p:nvPr/>
        </p:nvSpPr>
        <p:spPr>
          <a:xfrm>
            <a:off x="130925" y="220300"/>
            <a:ext cx="16398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Times New Roman"/>
                <a:ea typeface="Times New Roman"/>
                <a:cs typeface="Times New Roman"/>
                <a:sym typeface="Times New Roman"/>
              </a:rPr>
              <a:t>Working + Class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4"/>
          <p:cNvPicPr preferRelativeResize="0"/>
          <p:nvPr/>
        </p:nvPicPr>
        <p:blipFill rotWithShape="1">
          <a:blip r:embed="rId3">
            <a:alphaModFix/>
          </a:blip>
          <a:srcRect r="3119"/>
          <a:stretch/>
        </p:blipFill>
        <p:spPr>
          <a:xfrm>
            <a:off x="1600200" y="152400"/>
            <a:ext cx="48726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4"/>
          <p:cNvSpPr txBox="1"/>
          <p:nvPr/>
        </p:nvSpPr>
        <p:spPr>
          <a:xfrm>
            <a:off x="130925" y="220300"/>
            <a:ext cx="16398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Times New Roman"/>
                <a:ea typeface="Times New Roman"/>
                <a:cs typeface="Times New Roman"/>
                <a:sym typeface="Times New Roman"/>
              </a:rPr>
              <a:t>Wealthy + Elite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/>
        </p:nvSpPr>
        <p:spPr>
          <a:xfrm>
            <a:off x="130925" y="220300"/>
            <a:ext cx="16398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Times New Roman"/>
                <a:ea typeface="Times New Roman"/>
                <a:cs typeface="Times New Roman"/>
                <a:sym typeface="Times New Roman"/>
              </a:rPr>
              <a:t>Working + Class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3125" y="152400"/>
            <a:ext cx="494636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152400"/>
            <a:ext cx="4914699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6"/>
          <p:cNvSpPr txBox="1"/>
          <p:nvPr/>
        </p:nvSpPr>
        <p:spPr>
          <a:xfrm>
            <a:off x="130925" y="220300"/>
            <a:ext cx="16398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Times New Roman"/>
                <a:ea typeface="Times New Roman"/>
                <a:cs typeface="Times New Roman"/>
                <a:sym typeface="Times New Roman"/>
              </a:rPr>
              <a:t>Wealthy + Elite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Steps: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it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by candidate (requires more cleaning)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it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more “concept” combinations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Microsoft Macintosh PowerPoint</Application>
  <PresentationFormat>On-screen Show (16:9)</PresentationFormat>
  <Paragraphs>101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Times New Roman</vt:lpstr>
      <vt:lpstr>Simple Light</vt:lpstr>
      <vt:lpstr>Appeals to class politics</vt:lpstr>
      <vt:lpstr>Motivation</vt:lpstr>
      <vt:lpstr>Case selection </vt:lpstr>
      <vt:lpstr>Web scraping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</vt:lpstr>
      <vt:lpstr>PowerPoint Presentation</vt:lpstr>
      <vt:lpstr>Number of words by year of election and type of election </vt:lpstr>
      <vt:lpstr>Analysis 1: The dictionary </vt:lpstr>
      <vt:lpstr>Working-class related dictionary</vt:lpstr>
      <vt:lpstr>Anti-elite related dictionary</vt:lpstr>
      <vt:lpstr>Analysis 2: Words Embedding≈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Appeals to class politics</dc:title>
  <cp:lastModifiedBy>Davide Rocchetti</cp:lastModifiedBy>
  <cp:revision>1</cp:revision>
  <dcterms:modified xsi:type="dcterms:W3CDTF">2023-07-13T12:52:12Z</dcterms:modified>
</cp:coreProperties>
</file>