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9FC49-2A21-438B-8E6C-C35816EB6680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23BD-A7E6-4287-AE4A-71E575CAC1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45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Many </a:t>
            </a:r>
            <a:r>
              <a:rPr lang="de-DE" dirty="0" err="1"/>
              <a:t>conflicting</a:t>
            </a:r>
            <a:r>
              <a:rPr lang="de-DE" dirty="0"/>
              <a:t> </a:t>
            </a:r>
            <a:r>
              <a:rPr lang="de-DE" dirty="0" err="1"/>
              <a:t>court</a:t>
            </a:r>
            <a:r>
              <a:rPr lang="de-DE" dirty="0"/>
              <a:t> </a:t>
            </a:r>
            <a:r>
              <a:rPr lang="de-DE" dirty="0" err="1"/>
              <a:t>rulings</a:t>
            </a:r>
            <a:endParaRPr lang="de-DE" dirty="0"/>
          </a:p>
          <a:p>
            <a:r>
              <a:rPr lang="de-DE" dirty="0"/>
              <a:t>In Germany: web </a:t>
            </a:r>
            <a:r>
              <a:rPr lang="de-DE" dirty="0" err="1"/>
              <a:t>scraping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academic</a:t>
            </a:r>
            <a:r>
              <a:rPr lang="de-DE" dirty="0"/>
              <a:t> </a:t>
            </a:r>
            <a:r>
              <a:rPr lang="de-DE" dirty="0" err="1"/>
              <a:t>purposes</a:t>
            </a:r>
            <a:r>
              <a:rPr lang="de-DE" dirty="0"/>
              <a:t> </a:t>
            </a:r>
            <a:r>
              <a:rPr lang="de-DE" i="1" u="sng" dirty="0" err="1"/>
              <a:t>generally</a:t>
            </a:r>
            <a:r>
              <a:rPr lang="de-DE" dirty="0"/>
              <a:t> </a:t>
            </a:r>
            <a:r>
              <a:rPr lang="de-DE" dirty="0" err="1"/>
              <a:t>allowed</a:t>
            </a:r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exceptions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en-US" dirty="0"/>
              <a:t>Ask the legal department of your institution before you start a project.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on this: Ethics Session at the WZB, 3.7., 13:00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e-DE" dirty="0"/>
              <a:t>Web </a:t>
            </a:r>
            <a:r>
              <a:rPr lang="de-DE" dirty="0" err="1"/>
              <a:t>scraping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b="1" dirty="0" err="1"/>
              <a:t>difficult</a:t>
            </a: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r>
              <a:rPr lang="de-DE" dirty="0" err="1"/>
              <a:t>Older</a:t>
            </a:r>
            <a:r>
              <a:rPr lang="de-DE" dirty="0"/>
              <a:t> </a:t>
            </a:r>
            <a:r>
              <a:rPr lang="de-DE" dirty="0" err="1"/>
              <a:t>pages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simple </a:t>
            </a:r>
            <a:r>
              <a:rPr lang="de-DE" dirty="0" err="1"/>
              <a:t>html-structure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generally</a:t>
            </a:r>
            <a:r>
              <a:rPr lang="de-DE" dirty="0"/>
              <a:t> easy</a:t>
            </a:r>
          </a:p>
          <a:p>
            <a:r>
              <a:rPr lang="de-DE" dirty="0" err="1"/>
              <a:t>Newer</a:t>
            </a:r>
            <a:r>
              <a:rPr lang="de-DE" dirty="0"/>
              <a:t> </a:t>
            </a:r>
            <a:r>
              <a:rPr lang="de-DE" dirty="0" err="1"/>
              <a:t>pages</a:t>
            </a:r>
            <a:r>
              <a:rPr lang="de-DE" dirty="0"/>
              <a:t> </a:t>
            </a:r>
            <a:r>
              <a:rPr lang="de-DE" dirty="0" err="1"/>
              <a:t>challenging</a:t>
            </a:r>
            <a:endParaRPr lang="de-DE" dirty="0"/>
          </a:p>
          <a:p>
            <a:pPr lvl="1"/>
            <a:r>
              <a:rPr lang="de-DE" dirty="0"/>
              <a:t>More </a:t>
            </a:r>
            <a:r>
              <a:rPr lang="de-DE" dirty="0" err="1"/>
              <a:t>complicated</a:t>
            </a:r>
            <a:r>
              <a:rPr lang="de-DE" dirty="0"/>
              <a:t> </a:t>
            </a:r>
            <a:r>
              <a:rPr lang="de-DE" dirty="0" err="1"/>
              <a:t>structure</a:t>
            </a:r>
            <a:endParaRPr lang="de-DE" dirty="0"/>
          </a:p>
          <a:p>
            <a:pPr lvl="1"/>
            <a:r>
              <a:rPr lang="de-DE" dirty="0"/>
              <a:t>Interactive </a:t>
            </a:r>
            <a:r>
              <a:rPr lang="de-DE" dirty="0" err="1"/>
              <a:t>designs</a:t>
            </a:r>
            <a:endParaRPr lang="de-DE" dirty="0"/>
          </a:p>
          <a:p>
            <a:pPr lvl="1"/>
            <a:r>
              <a:rPr lang="de-DE" dirty="0" err="1"/>
              <a:t>Protection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scraping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advanced</a:t>
            </a:r>
            <a:r>
              <a:rPr lang="de-DE" dirty="0"/>
              <a:t> </a:t>
            </a:r>
            <a:r>
              <a:rPr lang="de-DE" dirty="0" err="1"/>
              <a:t>programming</a:t>
            </a:r>
            <a:r>
              <a:rPr lang="de-DE" dirty="0"/>
              <a:t> </a:t>
            </a:r>
            <a:r>
              <a:rPr lang="de-DE" dirty="0" err="1"/>
              <a:t>abilities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123BD-A7E6-4287-AE4A-71E575CAC1D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621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55DA5-8094-4E06-AE1B-DB6266B1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CA70D5-5D95-44C5-9B24-D9902AAF4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8CE678-BB14-4C58-84DF-61BA084C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F700D2-0306-415A-9A32-386300DB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3383CD-F3CA-4E82-93E5-37E19831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259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BF2FC-2CD0-4280-91F6-75B84618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2B60EB-C576-492C-A08D-880D705B9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A67B55-09CB-4841-82DC-285F20A8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8CF48E-35DD-417D-8A89-FCE1889C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1C1EF7-7D29-4B69-A4C0-E037F648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78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2FF3F-BB21-4B7B-8425-05910514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ADB033-3B13-4270-8220-CCDEAF18F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D8E9D2-93D0-438D-9A1D-9A585F63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4BFB16-BDB5-4E9B-8C93-81CADAEA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4F111-62E5-4DE6-B8B4-99EE0F55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26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03D2C-EBE0-4BC7-A108-E87FD15C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75BA48-0933-47BC-BD62-319ADDBDA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7564AE-23F2-4C49-9493-1B1E98B65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23425-7303-4E3B-9758-C9E233A4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1B8378-BB94-4E8C-8C4E-E06E91F8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BEAAC7-0B01-417D-818D-50CBE3AD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638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CFFF2-E12F-4842-9B10-2DD3FADB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8C6267-5741-4466-8E62-FD008A492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DD14F3-2FB5-47CF-BA6B-3673636DA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B56FD9-C350-47B7-8D0B-BB6D9154E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48FE27-8DE4-4D0D-947A-BD12AD214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22500-1C8D-4032-9B33-1563F974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37F8D59-E523-42D8-8ABE-34B991A8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319B537-007A-4171-BE61-E5A9A26B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33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9DC181-E9EB-4A69-88BE-8209936E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A61A6D-BED5-4A96-9169-E9B97D09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8D5318-57D4-4074-8227-8487F6D7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98E69C-D717-4D46-B5E9-84F6E660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77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DA4DAB-9742-45CF-9074-907D797F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B55D7A-50E7-4FB8-B104-67ACB393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6348E3-07C3-49DB-8C9D-2EF8C755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92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76873-8919-4AB4-AFEA-689B5D29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3E17FC-E3BF-40C1-8F9E-E1BD36AE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41AD6D-11CB-4630-9546-5D0A7FEC6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7C0DDD-7191-4332-972C-49D1444A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550E96-F26D-4842-8E03-DCD47C79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5DB7F8-8356-4ADE-8340-65FFB9FB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571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7931D-9DFF-43AF-B6EA-C83810B5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97BDEE-6854-4528-BD1F-3818A8BB2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2B4A57-656D-47DF-8A90-8B3C93B7E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02F4F9-359C-44B3-84DB-5BDDF772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E850F1-A0C0-4F34-810E-5D15E055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63B341-B41A-4062-B6D3-D5A9CC81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50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0D077-6077-4739-AF76-42CAAD33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5FB0F6-07AD-4CB8-80D5-F8CF499C6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6A47B8-7590-4936-8898-145CEC49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68D542-21AA-4E00-86AC-0FE28F90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82AF7B-C5A3-4AD7-9B4C-9F8F7031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06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8FAE01-1A47-4358-9CB5-D5A697FCE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D6A08E-C870-4FB9-BB0D-1C0891F11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90A147-F461-4F16-BF38-2B50882A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DCAD79-3750-400F-99A2-1617B325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983B0-5550-4712-B93C-6E657819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38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B6CA20C-F101-4992-93DF-72AE0764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9E39A4-BE15-4B63-81AF-6E4615E10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37FA40-28BC-4881-988E-42730FF28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1BD76-9844-430C-BF30-2F6945F86223}" type="datetimeFigureOut">
              <a:rPr lang="de-DE" smtClean="0"/>
              <a:t>06.06.2023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A3999C-B4F2-48D1-A0B2-85258C0D8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70B52C-E634-4B66-B690-7B10ACB54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7C640-AAA5-4F3F-AAC6-9A3AAC04CB5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16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view-source:https://www.uni-potsdam.de/typo3temp/assets/compressed/merged-1528869fa471e0d0c733a4148d937aef-min.js.gzip?1685599220" TargetMode="External"/><Relationship Id="rId3" Type="http://schemas.openxmlformats.org/officeDocument/2006/relationships/hyperlink" Target="view-source:https://www.uni-potsdam.de/typo3conf/ext/up_template/Resources/Public/Css/app.css?1685599215" TargetMode="External"/><Relationship Id="rId7" Type="http://schemas.openxmlformats.org/officeDocument/2006/relationships/hyperlink" Target="view-source:https://www.uni-potsdam.de/typo3temp/assets/compressed/jquery-3.6.0.min-min.js.gzip?1627621359" TargetMode="External"/><Relationship Id="rId2" Type="http://schemas.openxmlformats.org/officeDocument/2006/relationships/hyperlink" Target="view-source:https://www.uni-potsdam.de/typo3conf/ext/up_template/Resources/Public/Css/print.css?168559921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view-source:https://www.uni-potsdam.de/typo3temp/assets/compressed/merged-319258a7150a153f83ed9302a6acbce3-min.js.gzip?1685673086" TargetMode="External"/><Relationship Id="rId5" Type="http://schemas.openxmlformats.org/officeDocument/2006/relationships/hyperlink" Target="view-source:https://www.uni-potsdam.de/typo3conf/ext/orcid/Resources/Public/Css/layout.css?1685599292" TargetMode="External"/><Relationship Id="rId10" Type="http://schemas.openxmlformats.org/officeDocument/2006/relationships/hyperlink" Target="view-source:https://www.uni-potsdam.de/en/university-of-potsdam#up_content" TargetMode="External"/><Relationship Id="rId4" Type="http://schemas.openxmlformats.org/officeDocument/2006/relationships/hyperlink" Target="view-source:https://www.uni-potsdam.de/typo3conf/ext/up_template/Resources/Public/Fonts/fontawesome/css/all.min.css?1639489011" TargetMode="External"/><Relationship Id="rId9" Type="http://schemas.openxmlformats.org/officeDocument/2006/relationships/hyperlink" Target="view-source:https://www.uni-potsdam.de/en/university-of-potsda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beautify.org/htmlviewe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-potsdam.de/en/wiso/faculty/professorships/chai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eit.de/politik/ausland/ukraine-krieg-russland-newsblog-liv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armin.sauermann@wzb.e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77B47-4460-405A-9F15-B50A8C88F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Web </a:t>
            </a:r>
            <a:r>
              <a:rPr lang="de-DE" dirty="0" err="1"/>
              <a:t>Scraping</a:t>
            </a:r>
            <a:r>
              <a:rPr lang="de-DE" dirty="0"/>
              <a:t> Intro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7014FE-6FAB-4035-A95B-2C85E1E97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06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3533D-F3BF-4A7C-BEB2-A61A1869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web </a:t>
            </a:r>
            <a:r>
              <a:rPr lang="de-DE" dirty="0" err="1"/>
              <a:t>scraping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C5648F-BD97-40F7-946D-1257EA6D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Automated</a:t>
            </a:r>
            <a:r>
              <a:rPr lang="de-DE" dirty="0"/>
              <a:t> </a:t>
            </a:r>
            <a:r>
              <a:rPr lang="de-DE" dirty="0" err="1"/>
              <a:t>extraction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websites</a:t>
            </a:r>
            <a:r>
              <a:rPr lang="de-DE" dirty="0"/>
              <a:t> </a:t>
            </a:r>
          </a:p>
          <a:p>
            <a:r>
              <a:rPr lang="de-DE" dirty="0"/>
              <a:t>Data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images</a:t>
            </a:r>
            <a:r>
              <a:rPr lang="de-DE" dirty="0"/>
              <a:t>, links, and </a:t>
            </a:r>
            <a:r>
              <a:rPr lang="de-DE" dirty="0" err="1"/>
              <a:t>more</a:t>
            </a:r>
            <a:endParaRPr lang="de-DE" dirty="0"/>
          </a:p>
          <a:p>
            <a:r>
              <a:rPr lang="de-DE" dirty="0"/>
              <a:t>Alternative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manually</a:t>
            </a:r>
            <a:r>
              <a:rPr lang="de-DE" dirty="0"/>
              <a:t> </a:t>
            </a:r>
            <a:r>
              <a:rPr lang="de-DE" dirty="0" err="1"/>
              <a:t>copying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websites</a:t>
            </a:r>
            <a:r>
              <a:rPr lang="de-DE" dirty="0"/>
              <a:t> </a:t>
            </a:r>
            <a:endParaRPr lang="de-D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Enabling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extraction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large </a:t>
            </a:r>
            <a:r>
              <a:rPr lang="de-DE" dirty="0" err="1">
                <a:sym typeface="Wingdings" panose="05000000000000000000" pitchFamily="2" charset="2"/>
              </a:rPr>
              <a:t>amounts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up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date </a:t>
            </a:r>
            <a:r>
              <a:rPr lang="de-DE" dirty="0" err="1">
                <a:sym typeface="Wingdings" panose="05000000000000000000" pitchFamily="2" charset="2"/>
              </a:rPr>
              <a:t>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878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216D-BBF2-48B1-9485-585175A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Info: HTML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803B104-7034-43B4-BA77-4563E5C8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63" y="1485264"/>
            <a:ext cx="6733074" cy="52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9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216D-BBF2-48B1-9485-585175A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Info: HTML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1A4A63-E016-42C2-8448-B3417EC2A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032"/>
            <a:ext cx="10515600" cy="49651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&lt;!DOCTYPE html&gt;&lt;html </a:t>
            </a:r>
            <a:r>
              <a:rPr lang="en-US" sz="1400" dirty="0" err="1"/>
              <a:t>dir</a:t>
            </a:r>
            <a:r>
              <a:rPr lang="en-US" sz="1400" dirty="0"/>
              <a:t>="</a:t>
            </a:r>
            <a:r>
              <a:rPr lang="en-US" sz="1400" dirty="0" err="1"/>
              <a:t>ltr</a:t>
            </a:r>
            <a:r>
              <a:rPr lang="en-US" sz="1400" dirty="0"/>
              <a:t>" </a:t>
            </a:r>
            <a:r>
              <a:rPr lang="en-US" sz="1400" dirty="0" err="1"/>
              <a:t>lang</a:t>
            </a:r>
            <a:r>
              <a:rPr lang="en-US" sz="1400" dirty="0"/>
              <a:t>="</a:t>
            </a:r>
            <a:r>
              <a:rPr lang="en-US" sz="1400" dirty="0" err="1"/>
              <a:t>en</a:t>
            </a:r>
            <a:r>
              <a:rPr lang="en-US" sz="1400" dirty="0"/>
              <a:t>-GB"&gt;&lt;head&gt;&lt;meta charset="utf-8"&gt;&lt;!-- </a:t>
            </a:r>
            <a:r>
              <a:rPr lang="en-US" sz="1400" dirty="0" err="1"/>
              <a:t>benaja</a:t>
            </a:r>
            <a:r>
              <a:rPr lang="en-US" sz="1400" dirty="0"/>
              <a:t> - web solutions (www.benaja-websolutions.com) Markus Meier, Roland Brandt und Tobias Gaertner </a:t>
            </a:r>
            <a:r>
              <a:rPr lang="en-US" sz="1400" dirty="0" err="1"/>
              <a:t>GbR</a:t>
            </a:r>
            <a:r>
              <a:rPr lang="en-US" sz="1400" dirty="0"/>
              <a:t> This website is powered by TYPO3 - inspiring people to share! TYPO3 is a free open source Content Management Framework initially created by Kasper </a:t>
            </a:r>
            <a:r>
              <a:rPr lang="en-US" sz="1400" dirty="0" err="1"/>
              <a:t>Skaarhoj</a:t>
            </a:r>
            <a:r>
              <a:rPr lang="en-US" sz="1400" dirty="0"/>
              <a:t> and licensed under GNU/GPL. TYPO3 is copyright 1998-2023 of Kasper </a:t>
            </a:r>
            <a:r>
              <a:rPr lang="en-US" sz="1400" dirty="0" err="1"/>
              <a:t>Skaarhoj</a:t>
            </a:r>
            <a:r>
              <a:rPr lang="en-US" sz="1400" dirty="0"/>
              <a:t>. Extensions are copyright of their respective owners. Information and contribution at https://typo3.org/ --&gt;&lt;meta http-</a:t>
            </a:r>
            <a:r>
              <a:rPr lang="en-US" sz="1400" dirty="0" err="1"/>
              <a:t>equiv</a:t>
            </a:r>
            <a:r>
              <a:rPr lang="en-US" sz="1400" dirty="0"/>
              <a:t>="x-</a:t>
            </a:r>
            <a:r>
              <a:rPr lang="en-US" sz="1400" dirty="0" err="1"/>
              <a:t>ua</a:t>
            </a:r>
            <a:r>
              <a:rPr lang="en-US" sz="1400" dirty="0"/>
              <a:t>-compatible" content="IE=edge"/&gt;&lt;meta name="generator" content="TYPO3 CMS"/&gt;&lt;meta name="description" content="Where Knowledge Grows: The University of Potsdam convinces with its great variety of programs and courses as well as with its distinct interdisciplinary research profile. "/&gt;&lt;meta name="viewport" content="width=device-width, initial-scale=1.0"/&gt;&lt;meta name="author" content="Sabine Schwarz"/&gt;&lt;meta name="keywords" content="University, Potsdam, Sciences, Research, Studies, International Campus, Potsdam Transfer, Alumni, Teaching, Press Releases, News and Featured Stories, Events, Where Knowledge Grows, </a:t>
            </a:r>
            <a:r>
              <a:rPr lang="en-US" sz="1400" dirty="0" err="1"/>
              <a:t>Neues</a:t>
            </a:r>
            <a:r>
              <a:rPr lang="en-US" sz="1400" dirty="0"/>
              <a:t> Palais, Park of </a:t>
            </a:r>
            <a:r>
              <a:rPr lang="en-US" sz="1400" dirty="0" err="1"/>
              <a:t>Sanssouci</a:t>
            </a:r>
            <a:r>
              <a:rPr lang="en-US" sz="1400" dirty="0"/>
              <a:t>, </a:t>
            </a:r>
            <a:r>
              <a:rPr lang="en-US" sz="1400" dirty="0" err="1"/>
              <a:t>Bergholz-Rehbrücke</a:t>
            </a:r>
            <a:r>
              <a:rPr lang="en-US" sz="1400" dirty="0"/>
              <a:t> campus, </a:t>
            </a:r>
            <a:r>
              <a:rPr lang="en-US" sz="1400" dirty="0" err="1"/>
              <a:t>Golm</a:t>
            </a:r>
            <a:r>
              <a:rPr lang="en-US" sz="1400" dirty="0"/>
              <a:t>, </a:t>
            </a:r>
            <a:r>
              <a:rPr lang="en-US" sz="1400" dirty="0" err="1"/>
              <a:t>Griebnitzsee</a:t>
            </a:r>
            <a:r>
              <a:rPr lang="en-US" sz="1400" dirty="0"/>
              <a:t>, Brandenburg"/&gt;&lt;meta property="</a:t>
            </a:r>
            <a:r>
              <a:rPr lang="en-US" sz="1400" dirty="0" err="1"/>
              <a:t>og:title</a:t>
            </a:r>
            <a:r>
              <a:rPr lang="en-US" sz="1400" dirty="0"/>
              <a:t>" content="Homepage"/&gt;&lt;meta property="</a:t>
            </a:r>
            <a:r>
              <a:rPr lang="en-US" sz="1400" dirty="0" err="1"/>
              <a:t>og:description</a:t>
            </a:r>
            <a:r>
              <a:rPr lang="en-US" sz="1400" dirty="0"/>
              <a:t>" content="Where Knowledge Grows: The University of Potsdam convinces with its great variety of programs and courses as well as with its distinct interdisciplinary research profile."/&gt;&lt;meta name="</a:t>
            </a:r>
            <a:r>
              <a:rPr lang="en-US" sz="1400" dirty="0" err="1"/>
              <a:t>twitter:card</a:t>
            </a:r>
            <a:r>
              <a:rPr lang="en-US" sz="1400" dirty="0"/>
              <a:t>" content="summary"/&gt;&lt;link </a:t>
            </a:r>
            <a:r>
              <a:rPr lang="en-US" sz="1400" dirty="0" err="1"/>
              <a:t>rel</a:t>
            </a:r>
            <a:r>
              <a:rPr lang="en-US" sz="1400" dirty="0"/>
              <a:t>="stylesheet" type="text/</a:t>
            </a:r>
            <a:r>
              <a:rPr lang="en-US" sz="1400" dirty="0" err="1"/>
              <a:t>css</a:t>
            </a:r>
            <a:r>
              <a:rPr lang="en-US" sz="1400" dirty="0"/>
              <a:t>"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2"/>
              </a:rPr>
              <a:t>/typo3conf/</a:t>
            </a:r>
            <a:r>
              <a:rPr lang="en-US" sz="1400" u="sng" dirty="0" err="1">
                <a:hlinkClick r:id="rId2"/>
              </a:rPr>
              <a:t>ext</a:t>
            </a:r>
            <a:r>
              <a:rPr lang="en-US" sz="1400" u="sng" dirty="0">
                <a:hlinkClick r:id="rId2"/>
              </a:rPr>
              <a:t>/</a:t>
            </a:r>
            <a:r>
              <a:rPr lang="en-US" sz="1400" u="sng" dirty="0" err="1">
                <a:hlinkClick r:id="rId2"/>
              </a:rPr>
              <a:t>up_template</a:t>
            </a:r>
            <a:r>
              <a:rPr lang="en-US" sz="1400" u="sng" dirty="0">
                <a:hlinkClick r:id="rId2"/>
              </a:rPr>
              <a:t>/Resources/Public/</a:t>
            </a:r>
            <a:r>
              <a:rPr lang="en-US" sz="1400" u="sng" dirty="0" err="1">
                <a:hlinkClick r:id="rId2"/>
              </a:rPr>
              <a:t>Css</a:t>
            </a:r>
            <a:r>
              <a:rPr lang="en-US" sz="1400" u="sng" dirty="0">
                <a:hlinkClick r:id="rId2"/>
              </a:rPr>
              <a:t>/print.css?1685599215</a:t>
            </a:r>
            <a:r>
              <a:rPr lang="en-US" sz="1400" dirty="0"/>
              <a:t>" media="print"&gt;&lt;link </a:t>
            </a:r>
            <a:r>
              <a:rPr lang="en-US" sz="1400" dirty="0" err="1"/>
              <a:t>rel</a:t>
            </a:r>
            <a:r>
              <a:rPr lang="en-US" sz="1400" dirty="0"/>
              <a:t>="stylesheet" type="text/</a:t>
            </a:r>
            <a:r>
              <a:rPr lang="en-US" sz="1400" dirty="0" err="1"/>
              <a:t>css</a:t>
            </a:r>
            <a:r>
              <a:rPr lang="en-US" sz="1400" dirty="0"/>
              <a:t>"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3"/>
              </a:rPr>
              <a:t>/typo3conf/</a:t>
            </a:r>
            <a:r>
              <a:rPr lang="en-US" sz="1400" u="sng" dirty="0" err="1">
                <a:hlinkClick r:id="rId3"/>
              </a:rPr>
              <a:t>ext</a:t>
            </a:r>
            <a:r>
              <a:rPr lang="en-US" sz="1400" u="sng" dirty="0">
                <a:hlinkClick r:id="rId3"/>
              </a:rPr>
              <a:t>/</a:t>
            </a:r>
            <a:r>
              <a:rPr lang="en-US" sz="1400" u="sng" dirty="0" err="1">
                <a:hlinkClick r:id="rId3"/>
              </a:rPr>
              <a:t>up_template</a:t>
            </a:r>
            <a:r>
              <a:rPr lang="en-US" sz="1400" u="sng" dirty="0">
                <a:hlinkClick r:id="rId3"/>
              </a:rPr>
              <a:t>/Resources/Public/</a:t>
            </a:r>
            <a:r>
              <a:rPr lang="en-US" sz="1400" u="sng" dirty="0" err="1">
                <a:hlinkClick r:id="rId3"/>
              </a:rPr>
              <a:t>Css</a:t>
            </a:r>
            <a:r>
              <a:rPr lang="en-US" sz="1400" u="sng" dirty="0">
                <a:hlinkClick r:id="rId3"/>
              </a:rPr>
              <a:t>/app.css?1685599215</a:t>
            </a:r>
            <a:r>
              <a:rPr lang="en-US" sz="1400" dirty="0"/>
              <a:t>" media="screen"&gt;&lt;link </a:t>
            </a:r>
            <a:r>
              <a:rPr lang="en-US" sz="1400" dirty="0" err="1"/>
              <a:t>rel</a:t>
            </a:r>
            <a:r>
              <a:rPr lang="en-US" sz="1400" dirty="0"/>
              <a:t>="stylesheet" type="text/</a:t>
            </a:r>
            <a:r>
              <a:rPr lang="en-US" sz="1400" dirty="0" err="1"/>
              <a:t>css</a:t>
            </a:r>
            <a:r>
              <a:rPr lang="en-US" sz="1400" dirty="0"/>
              <a:t>"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4"/>
              </a:rPr>
              <a:t>/typo3conf/</a:t>
            </a:r>
            <a:r>
              <a:rPr lang="en-US" sz="1400" u="sng" dirty="0" err="1">
                <a:hlinkClick r:id="rId4"/>
              </a:rPr>
              <a:t>ext</a:t>
            </a:r>
            <a:r>
              <a:rPr lang="en-US" sz="1400" u="sng" dirty="0">
                <a:hlinkClick r:id="rId4"/>
              </a:rPr>
              <a:t>/</a:t>
            </a:r>
            <a:r>
              <a:rPr lang="en-US" sz="1400" u="sng" dirty="0" err="1">
                <a:hlinkClick r:id="rId4"/>
              </a:rPr>
              <a:t>up_template</a:t>
            </a:r>
            <a:r>
              <a:rPr lang="en-US" sz="1400" u="sng" dirty="0">
                <a:hlinkClick r:id="rId4"/>
              </a:rPr>
              <a:t>/Resources/Public/Fonts/</a:t>
            </a:r>
            <a:r>
              <a:rPr lang="en-US" sz="1400" u="sng" dirty="0" err="1">
                <a:hlinkClick r:id="rId4"/>
              </a:rPr>
              <a:t>fontawesome</a:t>
            </a:r>
            <a:r>
              <a:rPr lang="en-US" sz="1400" u="sng" dirty="0">
                <a:hlinkClick r:id="rId4"/>
              </a:rPr>
              <a:t>/</a:t>
            </a:r>
            <a:r>
              <a:rPr lang="en-US" sz="1400" u="sng" dirty="0" err="1">
                <a:hlinkClick r:id="rId4"/>
              </a:rPr>
              <a:t>css</a:t>
            </a:r>
            <a:r>
              <a:rPr lang="en-US" sz="1400" u="sng" dirty="0">
                <a:hlinkClick r:id="rId4"/>
              </a:rPr>
              <a:t>/all.min.css?1639489011</a:t>
            </a:r>
            <a:r>
              <a:rPr lang="en-US" sz="1400" dirty="0"/>
              <a:t>" media="screen"&gt;&lt;link </a:t>
            </a:r>
            <a:r>
              <a:rPr lang="en-US" sz="1400" dirty="0" err="1"/>
              <a:t>rel</a:t>
            </a:r>
            <a:r>
              <a:rPr lang="en-US" sz="1400" dirty="0"/>
              <a:t>="stylesheet" type="text/</a:t>
            </a:r>
            <a:r>
              <a:rPr lang="en-US" sz="1400" dirty="0" err="1"/>
              <a:t>css</a:t>
            </a:r>
            <a:r>
              <a:rPr lang="en-US" sz="1400" dirty="0"/>
              <a:t>"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5"/>
              </a:rPr>
              <a:t>/typo3conf/</a:t>
            </a:r>
            <a:r>
              <a:rPr lang="en-US" sz="1400" u="sng" dirty="0" err="1">
                <a:hlinkClick r:id="rId5"/>
              </a:rPr>
              <a:t>ext</a:t>
            </a:r>
            <a:r>
              <a:rPr lang="en-US" sz="1400" u="sng" dirty="0">
                <a:hlinkClick r:id="rId5"/>
              </a:rPr>
              <a:t>/</a:t>
            </a:r>
            <a:r>
              <a:rPr lang="en-US" sz="1400" u="sng" dirty="0" err="1">
                <a:hlinkClick r:id="rId5"/>
              </a:rPr>
              <a:t>orcid</a:t>
            </a:r>
            <a:r>
              <a:rPr lang="en-US" sz="1400" u="sng" dirty="0">
                <a:hlinkClick r:id="rId5"/>
              </a:rPr>
              <a:t>/Resources/Public/</a:t>
            </a:r>
            <a:r>
              <a:rPr lang="en-US" sz="1400" u="sng" dirty="0" err="1">
                <a:hlinkClick r:id="rId5"/>
              </a:rPr>
              <a:t>Css</a:t>
            </a:r>
            <a:r>
              <a:rPr lang="en-US" sz="1400" u="sng" dirty="0">
                <a:hlinkClick r:id="rId5"/>
              </a:rPr>
              <a:t>/layout.css?1685599292</a:t>
            </a:r>
            <a:r>
              <a:rPr lang="en-US" sz="1400" dirty="0"/>
              <a:t>" media="all"&gt;&lt;script </a:t>
            </a:r>
            <a:r>
              <a:rPr lang="en-US" sz="1400" dirty="0" err="1"/>
              <a:t>src</a:t>
            </a:r>
            <a:r>
              <a:rPr lang="en-US" sz="1400" dirty="0"/>
              <a:t>="</a:t>
            </a:r>
            <a:r>
              <a:rPr lang="en-US" sz="1400" u="sng" dirty="0">
                <a:hlinkClick r:id="rId6"/>
              </a:rPr>
              <a:t>/typo3temp/assets/compressed/merged-319258a7150a153f83ed9302a6acbce3-min.js.gzip?1685673086</a:t>
            </a:r>
            <a:r>
              <a:rPr lang="en-US" sz="1400" dirty="0"/>
              <a:t>"&gt;&lt;/script&gt;&lt;</a:t>
            </a:r>
            <a:r>
              <a:rPr lang="en-US" sz="1400" dirty="0" err="1"/>
              <a:t>scriptsrc</a:t>
            </a:r>
            <a:r>
              <a:rPr lang="en-US" sz="1400" dirty="0"/>
              <a:t>="</a:t>
            </a:r>
            <a:r>
              <a:rPr lang="en-US" sz="1400" u="sng" dirty="0">
                <a:hlinkClick r:id="rId7"/>
              </a:rPr>
              <a:t>/typo3temp/assets/compressed/jquery-3.6.0.min-min.js.gzip?1627621359</a:t>
            </a:r>
            <a:r>
              <a:rPr lang="en-US" sz="1400" dirty="0"/>
              <a:t>"&gt;&lt;/script&gt;&lt;script </a:t>
            </a:r>
            <a:r>
              <a:rPr lang="en-US" sz="1400" dirty="0" err="1"/>
              <a:t>src</a:t>
            </a:r>
            <a:r>
              <a:rPr lang="en-US" sz="1400" dirty="0"/>
              <a:t>="</a:t>
            </a:r>
            <a:r>
              <a:rPr lang="en-US" sz="1400" u="sng" dirty="0">
                <a:hlinkClick r:id="rId8"/>
              </a:rPr>
              <a:t>/typo3temp/assets/compressed/merged-1528869fa471e0d0c733a4148d937aef-min.js.gzip?1685599220</a:t>
            </a:r>
            <a:r>
              <a:rPr lang="en-US" sz="1400" dirty="0"/>
              <a:t>"&gt;&lt;/script&gt;&lt;title&gt;University of Potsdam&lt;/title&gt;&lt;link </a:t>
            </a:r>
            <a:r>
              <a:rPr lang="en-US" sz="1400" dirty="0" err="1"/>
              <a:t>rel</a:t>
            </a:r>
            <a:r>
              <a:rPr lang="en-US" sz="1400" dirty="0"/>
              <a:t>="canonical"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9"/>
              </a:rPr>
              <a:t>https://www.uni-potsdam.de/en/university-of-potsdam</a:t>
            </a:r>
            <a:r>
              <a:rPr lang="en-US" sz="1400" dirty="0"/>
              <a:t>"/&gt;&lt;/head&gt;&lt;body class="up-section-university"&gt;&lt;</a:t>
            </a:r>
            <a:r>
              <a:rPr lang="en-US" sz="1400" dirty="0" err="1"/>
              <a:t>noscript</a:t>
            </a:r>
            <a:r>
              <a:rPr lang="en-US" sz="1400" dirty="0"/>
              <a:t>&gt;&lt;div id="</a:t>
            </a:r>
            <a:r>
              <a:rPr lang="en-US" sz="1400" dirty="0" err="1"/>
              <a:t>up_nojs</a:t>
            </a:r>
            <a:r>
              <a:rPr lang="en-US" sz="1400" dirty="0"/>
              <a:t>"&gt;&lt;div class="row"&gt;&lt;div class="</a:t>
            </a:r>
            <a:r>
              <a:rPr lang="en-US" sz="1400" dirty="0" err="1"/>
              <a:t>twentyfour</a:t>
            </a:r>
            <a:r>
              <a:rPr lang="en-US" sz="1400" dirty="0"/>
              <a:t> columns"&gt;&lt;p&gt; JavaScript is not activated in your browser. &lt;span class="up-</a:t>
            </a:r>
            <a:r>
              <a:rPr lang="en-US" sz="1400" dirty="0" err="1"/>
              <a:t>nojs</a:t>
            </a:r>
            <a:r>
              <a:rPr lang="en-US" sz="1400" dirty="0"/>
              <a:t>-hint"&gt; Please activate JavaScript &lt;/span&gt; to use the whole functionality of this website! &lt;/p&gt;&lt;/div&gt;&lt;/div&gt;&lt;/div&gt;&lt;/</a:t>
            </a:r>
            <a:r>
              <a:rPr lang="en-US" sz="1400" dirty="0" err="1"/>
              <a:t>noscript</a:t>
            </a:r>
            <a:r>
              <a:rPr lang="en-US" sz="1400" dirty="0"/>
              <a:t>&gt;&lt;a </a:t>
            </a:r>
            <a:r>
              <a:rPr lang="en-US" sz="1400" dirty="0" err="1"/>
              <a:t>href</a:t>
            </a:r>
            <a:r>
              <a:rPr lang="en-US" sz="1400" dirty="0"/>
              <a:t>="</a:t>
            </a:r>
            <a:r>
              <a:rPr lang="en-US" sz="1400" u="sng" dirty="0">
                <a:hlinkClick r:id="rId10"/>
              </a:rPr>
              <a:t>#</a:t>
            </a:r>
            <a:r>
              <a:rPr lang="en-US" sz="1400" u="sng" dirty="0" err="1">
                <a:hlinkClick r:id="rId10"/>
              </a:rPr>
              <a:t>up_content</a:t>
            </a:r>
            <a:r>
              <a:rPr lang="en-US" sz="1400" dirty="0"/>
              <a:t>" class="up-skip-link"&gt;Skip to main content&lt;/a&gt;&lt;div id="</a:t>
            </a:r>
            <a:r>
              <a:rPr lang="en-US" sz="1400" dirty="0" err="1"/>
              <a:t>up_overlay_for_search</a:t>
            </a:r>
            <a:r>
              <a:rPr lang="en-US" sz="1400" dirty="0"/>
              <a:t>"&gt;&lt;/div&gt;&lt;div id="</a:t>
            </a:r>
            <a:r>
              <a:rPr lang="en-US" sz="1400" dirty="0" err="1"/>
              <a:t>up_overlay_for_navs</a:t>
            </a:r>
            <a:r>
              <a:rPr lang="en-US" sz="1400" dirty="0"/>
              <a:t>"&gt;&lt;/div&gt;&lt;nav id="</a:t>
            </a:r>
            <a:r>
              <a:rPr lang="en-US" sz="1400" dirty="0" err="1"/>
              <a:t>up_mobilenav_wrapper_small</a:t>
            </a:r>
            <a:r>
              <a:rPr lang="en-US" sz="1400" dirty="0"/>
              <a:t>" class="show-for-small" aria-label="Main"&gt;&lt;div class="row collapse"&gt;&lt;div class="</a:t>
            </a:r>
            <a:r>
              <a:rPr lang="en-US" sz="1400" dirty="0" err="1"/>
              <a:t>twentyfour</a:t>
            </a:r>
            <a:r>
              <a:rPr lang="en-US" sz="1400" dirty="0"/>
              <a:t> columns"&gt;&lt;div id="</a:t>
            </a:r>
            <a:r>
              <a:rPr lang="en-US" sz="1400" dirty="0" err="1"/>
              <a:t>up_mobilenav_small</a:t>
            </a:r>
            <a:r>
              <a:rPr lang="en-US" sz="1400" dirty="0"/>
              <a:t>"&gt;&lt;ul class="up-mobilenav-level-1"&gt;&lt;li id="</a:t>
            </a:r>
            <a:r>
              <a:rPr lang="en-US" sz="1400" dirty="0" err="1"/>
              <a:t>up_mobilenav_mainnav_item</a:t>
            </a:r>
            <a:r>
              <a:rPr lang="en-US" sz="1400" dirty="0"/>
              <a:t>" class="up-</a:t>
            </a:r>
            <a:r>
              <a:rPr lang="en-US" sz="1400" dirty="0" err="1"/>
              <a:t>mobilenav</a:t>
            </a:r>
            <a:r>
              <a:rPr lang="en-US" sz="1400" dirty="0"/>
              <a:t>-target-</a:t>
            </a:r>
            <a:r>
              <a:rPr lang="en-US" sz="1400" dirty="0" err="1"/>
              <a:t>mainnav</a:t>
            </a:r>
            <a:r>
              <a:rPr lang="en-US" sz="1400" dirty="0"/>
              <a:t>"&gt;&lt;button</a:t>
            </a:r>
            <a:r>
              <a:rPr lang="de-DE" sz="1400" dirty="0"/>
              <a:t>...</a:t>
            </a:r>
          </a:p>
          <a:p>
            <a:pPr marL="0" indent="0">
              <a:buNone/>
            </a:pPr>
            <a:r>
              <a:rPr lang="de-DE" sz="1400" dirty="0"/>
              <a:t>[+905 </a:t>
            </a:r>
            <a:r>
              <a:rPr lang="de-DE" sz="1400" dirty="0" err="1"/>
              <a:t>lines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code]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950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216D-BBF2-48B1-9485-585175A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Info: HTML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121D49E-447E-4AF0-AEB8-C0E9FE561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476" y="1690688"/>
            <a:ext cx="7765048" cy="4048918"/>
          </a:xfrm>
        </p:spPr>
      </p:pic>
    </p:spTree>
    <p:extLst>
      <p:ext uri="{BB962C8B-B14F-4D97-AF65-F5344CB8AC3E}">
        <p14:creationId xmlns:p14="http://schemas.microsoft.com/office/powerpoint/2010/main" val="95701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216D-BBF2-48B1-9485-585175A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Info: 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6F6E1D-B05A-12FC-7622-25FDD1DA79D3}"/>
              </a:ext>
            </a:extLst>
          </p:cNvPr>
          <p:cNvSpPr/>
          <p:nvPr/>
        </p:nvSpPr>
        <p:spPr>
          <a:xfrm>
            <a:off x="997527" y="1348966"/>
            <a:ext cx="6500553" cy="51439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A5FAC-0502-C565-DE4C-E4F94DB2DF83}"/>
              </a:ext>
            </a:extLst>
          </p:cNvPr>
          <p:cNvSpPr/>
          <p:nvPr/>
        </p:nvSpPr>
        <p:spPr>
          <a:xfrm>
            <a:off x="1210147" y="1774479"/>
            <a:ext cx="6096000" cy="1471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15F1E1-4E84-107D-FFF2-69D3FD95E281}"/>
              </a:ext>
            </a:extLst>
          </p:cNvPr>
          <p:cNvSpPr/>
          <p:nvPr/>
        </p:nvSpPr>
        <p:spPr>
          <a:xfrm>
            <a:off x="1249377" y="3494637"/>
            <a:ext cx="6056769" cy="2435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A42DC-DE66-DEF2-B2B8-54873CF7A678}"/>
              </a:ext>
            </a:extLst>
          </p:cNvPr>
          <p:cNvSpPr/>
          <p:nvPr/>
        </p:nvSpPr>
        <p:spPr>
          <a:xfrm>
            <a:off x="1530035" y="2116201"/>
            <a:ext cx="5540719" cy="77767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A5A8D-23E0-9E94-4FF5-68B26C967218}"/>
              </a:ext>
            </a:extLst>
          </p:cNvPr>
          <p:cNvSpPr/>
          <p:nvPr/>
        </p:nvSpPr>
        <p:spPr>
          <a:xfrm>
            <a:off x="1530036" y="3921558"/>
            <a:ext cx="5540719" cy="16174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7643F-C7C2-27C6-5AF9-4B43634B78A0}"/>
              </a:ext>
            </a:extLst>
          </p:cNvPr>
          <p:cNvSpPr txBox="1"/>
          <p:nvPr/>
        </p:nvSpPr>
        <p:spPr>
          <a:xfrm>
            <a:off x="997527" y="1348966"/>
            <a:ext cx="84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r>
              <a:rPr lang="de-DE" dirty="0" err="1"/>
              <a:t>html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99E3B-1075-6F86-CDF1-15E1BA3325DA}"/>
              </a:ext>
            </a:extLst>
          </p:cNvPr>
          <p:cNvSpPr txBox="1"/>
          <p:nvPr/>
        </p:nvSpPr>
        <p:spPr>
          <a:xfrm>
            <a:off x="998360" y="6064087"/>
            <a:ext cx="9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&lt;/</a:t>
            </a:r>
            <a:r>
              <a:rPr lang="de-DE" dirty="0" err="1"/>
              <a:t>html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EAE686-7F54-DE3F-B388-C42276E07841}"/>
              </a:ext>
            </a:extLst>
          </p:cNvPr>
          <p:cNvSpPr txBox="1"/>
          <p:nvPr/>
        </p:nvSpPr>
        <p:spPr>
          <a:xfrm>
            <a:off x="1210147" y="1746869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r>
              <a:rPr lang="de-DE" dirty="0" err="1"/>
              <a:t>head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6959C-873A-8449-05DA-B5D843FABB89}"/>
              </a:ext>
            </a:extLst>
          </p:cNvPr>
          <p:cNvSpPr txBox="1"/>
          <p:nvPr/>
        </p:nvSpPr>
        <p:spPr>
          <a:xfrm>
            <a:off x="1165262" y="2893874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&lt;/</a:t>
            </a:r>
            <a:r>
              <a:rPr lang="de-DE" dirty="0" err="1"/>
              <a:t>head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778B2-5F9D-8966-E39C-E262DF1BEA7A}"/>
              </a:ext>
            </a:extLst>
          </p:cNvPr>
          <p:cNvSpPr txBox="1"/>
          <p:nvPr/>
        </p:nvSpPr>
        <p:spPr>
          <a:xfrm>
            <a:off x="1497343" y="2048863"/>
            <a:ext cx="2649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webpage</a:t>
            </a:r>
            <a:r>
              <a:rPr lang="de-DE" dirty="0"/>
              <a:t>]</a:t>
            </a:r>
          </a:p>
          <a:p>
            <a:r>
              <a:rPr lang="de-DE" dirty="0"/>
              <a:t>&lt;title&gt;Title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&lt;/title&gt;</a:t>
            </a:r>
          </a:p>
          <a:p>
            <a:r>
              <a:rPr lang="de-DE" dirty="0"/>
              <a:t>&lt;style&gt; … &lt;/style&gt;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870C6-6F2D-D857-1760-38EC0ABD7D6D}"/>
              </a:ext>
            </a:extLst>
          </p:cNvPr>
          <p:cNvSpPr txBox="1"/>
          <p:nvPr/>
        </p:nvSpPr>
        <p:spPr>
          <a:xfrm>
            <a:off x="1249377" y="3463885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r>
              <a:rPr lang="de-DE" dirty="0" err="1"/>
              <a:t>body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15DB90-1E88-C4C4-356D-93BA435DB43A}"/>
              </a:ext>
            </a:extLst>
          </p:cNvPr>
          <p:cNvSpPr txBox="1"/>
          <p:nvPr/>
        </p:nvSpPr>
        <p:spPr>
          <a:xfrm>
            <a:off x="1249376" y="5538986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&lt;/</a:t>
            </a:r>
            <a:r>
              <a:rPr lang="de-DE" dirty="0" err="1"/>
              <a:t>body</a:t>
            </a:r>
            <a:r>
              <a:rPr lang="de-DE" dirty="0"/>
              <a:t>&gt;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F94BB-90AE-D60E-3991-52F2D9A17A45}"/>
              </a:ext>
            </a:extLst>
          </p:cNvPr>
          <p:cNvSpPr txBox="1"/>
          <p:nvPr/>
        </p:nvSpPr>
        <p:spPr>
          <a:xfrm>
            <a:off x="1497343" y="3956034"/>
            <a:ext cx="2986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[Content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webpage</a:t>
            </a:r>
            <a:r>
              <a:rPr lang="de-DE" dirty="0"/>
              <a:t>]</a:t>
            </a:r>
          </a:p>
          <a:p>
            <a:endParaRPr lang="de-DE" dirty="0"/>
          </a:p>
          <a:p>
            <a:r>
              <a:rPr lang="de-DE" dirty="0"/>
              <a:t>&lt;h1&gt;Title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paragraph</a:t>
            </a:r>
            <a:r>
              <a:rPr lang="de-DE" dirty="0"/>
              <a:t>&lt;/h1&gt;</a:t>
            </a:r>
          </a:p>
          <a:p>
            <a:r>
              <a:rPr lang="de-DE" dirty="0"/>
              <a:t>&lt;p&gt;Content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paragraph</a:t>
            </a:r>
            <a:r>
              <a:rPr lang="de-DE" dirty="0"/>
              <a:t>&lt;/p&gt;</a:t>
            </a:r>
          </a:p>
          <a:p>
            <a:r>
              <a:rPr lang="de-DE" dirty="0"/>
              <a:t>&lt;a </a:t>
            </a:r>
            <a:r>
              <a:rPr lang="de-DE" dirty="0" err="1"/>
              <a:t>href</a:t>
            </a:r>
            <a:r>
              <a:rPr lang="de-DE" dirty="0"/>
              <a:t>=„</a:t>
            </a:r>
            <a:r>
              <a:rPr lang="de-DE" dirty="0" err="1"/>
              <a:t>url</a:t>
            </a:r>
            <a:r>
              <a:rPr lang="de-DE" dirty="0"/>
              <a:t>“&gt;link </a:t>
            </a:r>
            <a:r>
              <a:rPr lang="de-DE" dirty="0" err="1"/>
              <a:t>text</a:t>
            </a:r>
            <a:r>
              <a:rPr lang="de-DE" dirty="0"/>
              <a:t>&lt;/a&gt;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3BDCD-8818-1E68-60A0-C2446C72D504}"/>
              </a:ext>
            </a:extLst>
          </p:cNvPr>
          <p:cNvSpPr txBox="1"/>
          <p:nvPr/>
        </p:nvSpPr>
        <p:spPr>
          <a:xfrm>
            <a:off x="3048755" y="324659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https://codebeautify.org/htmlviewer</a:t>
            </a:r>
          </a:p>
        </p:txBody>
      </p:sp>
    </p:spTree>
    <p:extLst>
      <p:ext uri="{BB962C8B-B14F-4D97-AF65-F5344CB8AC3E}">
        <p14:creationId xmlns:p14="http://schemas.microsoft.com/office/powerpoint/2010/main" val="120725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216D-BBF2-48B1-9485-585175A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Info: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363D9-71E2-8169-A587-C8FD6E85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code </a:t>
            </a:r>
            <a:r>
              <a:rPr lang="de-DE" dirty="0" err="1"/>
              <a:t>again</a:t>
            </a:r>
            <a:endParaRPr lang="de-DE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https://codebeautify.org/htmlviewer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de-DE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94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EE25-3E10-10F6-AF3A-C691C8B8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1: </a:t>
            </a:r>
            <a:br>
              <a:rPr lang="de-DE" dirty="0"/>
            </a:br>
            <a:r>
              <a:rPr lang="en-US" dirty="0"/>
              <a:t>Faculties of the University of Potsdam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0A09-0D34-9C19-B672-F6ED19A6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Extract </a:t>
            </a:r>
            <a:r>
              <a:rPr lang="de-DE" dirty="0" err="1"/>
              <a:t>Names</a:t>
            </a:r>
            <a:r>
              <a:rPr lang="de-DE" dirty="0"/>
              <a:t>, Chair </a:t>
            </a:r>
            <a:r>
              <a:rPr lang="de-DE" dirty="0" err="1"/>
              <a:t>holders</a:t>
            </a:r>
            <a:r>
              <a:rPr lang="de-DE" dirty="0"/>
              <a:t>, and URLs </a:t>
            </a:r>
            <a:r>
              <a:rPr lang="de-DE" dirty="0" err="1"/>
              <a:t>from</a:t>
            </a:r>
            <a:r>
              <a:rPr lang="de-DE" dirty="0"/>
              <a:t> all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faculty</a:t>
            </a:r>
            <a:r>
              <a:rPr lang="de-DE" dirty="0"/>
              <a:t> </a:t>
            </a:r>
            <a:r>
              <a:rPr lang="de-DE" dirty="0" err="1"/>
              <a:t>chairs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Faculty </a:t>
            </a:r>
            <a:r>
              <a:rPr lang="de-DE" dirty="0" err="1"/>
              <a:t>of</a:t>
            </a:r>
            <a:r>
              <a:rPr lang="de-DE" dirty="0"/>
              <a:t> Economics and </a:t>
            </a:r>
            <a:r>
              <a:rPr lang="de-DE" dirty="0" err="1"/>
              <a:t>Social</a:t>
            </a:r>
            <a:r>
              <a:rPr lang="de-DE" dirty="0"/>
              <a:t> Sciences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https://www.uni-potsdam.de/en/wiso/faculty/professorships/chairs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(You can find a second example of simple web scraping, that includes a loop in </a:t>
            </a:r>
            <a:r>
              <a:rPr lang="en-US" dirty="0" err="1"/>
              <a:t>moodle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8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C282E-6447-4126-AAF6-B0995D20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Tempering</a:t>
            </a:r>
            <a:r>
              <a:rPr lang="de-DE" dirty="0"/>
              <a:t> </a:t>
            </a:r>
            <a:r>
              <a:rPr lang="de-DE" dirty="0" err="1"/>
              <a:t>Expectations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825CD0-DE25-4FAB-9CDC-BB2A8498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Web </a:t>
            </a:r>
            <a:r>
              <a:rPr lang="de-DE" sz="3600" dirty="0" err="1"/>
              <a:t>scraping</a:t>
            </a:r>
            <a:r>
              <a:rPr lang="de-DE" sz="3600" dirty="0"/>
              <a:t> </a:t>
            </a:r>
            <a:r>
              <a:rPr lang="de-DE" sz="3600" dirty="0" err="1"/>
              <a:t>is</a:t>
            </a:r>
            <a:r>
              <a:rPr lang="de-DE" sz="3600" dirty="0"/>
              <a:t> </a:t>
            </a:r>
            <a:r>
              <a:rPr lang="de-DE" sz="3600" b="1" dirty="0" err="1"/>
              <a:t>legally</a:t>
            </a:r>
            <a:r>
              <a:rPr lang="de-DE" sz="3600" b="1" dirty="0"/>
              <a:t> </a:t>
            </a:r>
            <a:r>
              <a:rPr lang="de-DE" sz="3600" b="1" dirty="0" err="1"/>
              <a:t>murky</a:t>
            </a:r>
            <a:endParaRPr lang="de-DE" sz="3600" b="1" dirty="0"/>
          </a:p>
          <a:p>
            <a:r>
              <a:rPr lang="de-DE" sz="3600" dirty="0"/>
              <a:t>Web </a:t>
            </a:r>
            <a:r>
              <a:rPr lang="de-DE" sz="3600" dirty="0" err="1"/>
              <a:t>scraping</a:t>
            </a:r>
            <a:r>
              <a:rPr lang="de-DE" sz="3600" dirty="0"/>
              <a:t> </a:t>
            </a:r>
            <a:r>
              <a:rPr lang="de-DE" sz="3600" dirty="0" err="1"/>
              <a:t>can</a:t>
            </a:r>
            <a:r>
              <a:rPr lang="de-DE" sz="3600" dirty="0"/>
              <a:t> </a:t>
            </a:r>
            <a:r>
              <a:rPr lang="de-DE" sz="3600" dirty="0" err="1"/>
              <a:t>be</a:t>
            </a:r>
            <a:r>
              <a:rPr lang="de-DE" sz="3600" dirty="0"/>
              <a:t> </a:t>
            </a:r>
            <a:r>
              <a:rPr lang="de-DE" sz="3600" b="1" dirty="0" err="1"/>
              <a:t>difficult</a:t>
            </a:r>
            <a:endParaRPr lang="de-DE" sz="3600" b="1" dirty="0"/>
          </a:p>
          <a:p>
            <a:r>
              <a:rPr lang="de-DE" sz="3600" dirty="0"/>
              <a:t>Web </a:t>
            </a:r>
            <a:r>
              <a:rPr lang="de-DE" sz="3600" dirty="0" err="1"/>
              <a:t>scraping</a:t>
            </a:r>
            <a:r>
              <a:rPr lang="de-DE" sz="3600" dirty="0"/>
              <a:t> </a:t>
            </a:r>
            <a:r>
              <a:rPr lang="de-DE" sz="3600" dirty="0" err="1"/>
              <a:t>can</a:t>
            </a:r>
            <a:r>
              <a:rPr lang="de-DE" sz="3600" dirty="0"/>
              <a:t> </a:t>
            </a:r>
            <a:r>
              <a:rPr lang="de-DE" sz="3600" dirty="0" err="1"/>
              <a:t>be</a:t>
            </a:r>
            <a:r>
              <a:rPr lang="de-DE" sz="3600" dirty="0"/>
              <a:t> </a:t>
            </a:r>
            <a:r>
              <a:rPr lang="de-DE" sz="3600" b="1" dirty="0" err="1"/>
              <a:t>messy</a:t>
            </a:r>
            <a:endParaRPr lang="de-DE" sz="3600" b="1" dirty="0"/>
          </a:p>
          <a:p>
            <a:r>
              <a:rPr lang="de-DE" sz="3600" dirty="0"/>
              <a:t>Web </a:t>
            </a:r>
            <a:r>
              <a:rPr lang="de-DE" sz="3600" dirty="0" err="1"/>
              <a:t>scraping</a:t>
            </a:r>
            <a:r>
              <a:rPr lang="de-DE" sz="3600" dirty="0"/>
              <a:t> </a:t>
            </a:r>
            <a:r>
              <a:rPr lang="de-DE" sz="3600" dirty="0" err="1"/>
              <a:t>can</a:t>
            </a:r>
            <a:r>
              <a:rPr lang="de-DE" sz="3600" dirty="0"/>
              <a:t> </a:t>
            </a:r>
            <a:r>
              <a:rPr lang="de-DE" sz="3600" dirty="0" err="1"/>
              <a:t>be</a:t>
            </a:r>
            <a:r>
              <a:rPr lang="de-DE" sz="3600" dirty="0"/>
              <a:t> </a:t>
            </a:r>
            <a:r>
              <a:rPr lang="de-DE" sz="3600" dirty="0" err="1"/>
              <a:t>very</a:t>
            </a:r>
            <a:r>
              <a:rPr lang="de-DE" sz="3600" dirty="0"/>
              <a:t> </a:t>
            </a:r>
            <a:r>
              <a:rPr lang="de-DE" sz="3600" b="1" dirty="0"/>
              <a:t>time </a:t>
            </a:r>
            <a:r>
              <a:rPr lang="de-DE" sz="3600" b="1" dirty="0" err="1"/>
              <a:t>consuming</a:t>
            </a:r>
            <a:endParaRPr lang="de-DE" sz="3600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90010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EE25-3E10-10F6-AF3A-C691C8B8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3: </a:t>
            </a:r>
            <a:br>
              <a:rPr lang="de-DE" dirty="0"/>
            </a:br>
            <a:r>
              <a:rPr lang="en-US" dirty="0"/>
              <a:t>Comments from ZEIT Online live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0A09-0D34-9C19-B672-F6ED19A6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Extract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Ukrain</a:t>
            </a:r>
            <a:r>
              <a:rPr lang="de-DE" dirty="0"/>
              <a:t> live </a:t>
            </a:r>
            <a:r>
              <a:rPr lang="de-DE" dirty="0" err="1"/>
              <a:t>thread</a:t>
            </a:r>
            <a:endParaRPr lang="de-DE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https://www.zeit.de/politik/ausland/ukraine-krieg-russland-newsblog-live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76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EE25-3E10-10F6-AF3A-C691C8B8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0A09-0D34-9C19-B672-F6ED19A6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Until Friday (09 June):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Upload your exercises to Moodle (in session 9)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Email </a:t>
            </a:r>
            <a:r>
              <a:rPr lang="en-US" dirty="0">
                <a:hlinkClick r:id="rId2"/>
              </a:rPr>
              <a:t>armin.sauermann@wzb.eu</a:t>
            </a:r>
            <a:r>
              <a:rPr lang="en-US" dirty="0"/>
              <a:t> if there are any R-related issues that are not clear or that you would like to discuss further.</a:t>
            </a:r>
          </a:p>
        </p:txBody>
      </p:sp>
    </p:spTree>
    <p:extLst>
      <p:ext uri="{BB962C8B-B14F-4D97-AF65-F5344CB8AC3E}">
        <p14:creationId xmlns:p14="http://schemas.microsoft.com/office/powerpoint/2010/main" val="2228014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Widescreen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</vt:lpstr>
      <vt:lpstr>Web Scraping Intro</vt:lpstr>
      <vt:lpstr>What is web scraping</vt:lpstr>
      <vt:lpstr>Background Info: HTML</vt:lpstr>
      <vt:lpstr>Background Info: HTML</vt:lpstr>
      <vt:lpstr>Background Info: HTML</vt:lpstr>
      <vt:lpstr>Background Info: HTML</vt:lpstr>
      <vt:lpstr>Background Info: HTML</vt:lpstr>
      <vt:lpstr>Example 1:  Faculties of the University of Potsdam</vt:lpstr>
      <vt:lpstr>Tempering Expectations</vt:lpstr>
      <vt:lpstr>Example 3:  Comments from ZEIT Online live thread</vt:lpstr>
      <vt:lpstr>Until 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Armin Sauermann</dc:creator>
  <cp:lastModifiedBy>Armin Sauermann</cp:lastModifiedBy>
  <cp:revision>22</cp:revision>
  <dcterms:created xsi:type="dcterms:W3CDTF">2023-06-02T12:45:42Z</dcterms:created>
  <dcterms:modified xsi:type="dcterms:W3CDTF">2023-06-06T15:47:11Z</dcterms:modified>
</cp:coreProperties>
</file>